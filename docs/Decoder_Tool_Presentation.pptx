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tool: one Streamlit app that takes a VIN, loads its readouts, translates them with an SDDB, explains them, and shows software versions. The second half shows how colleagues can extend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readout is a pile of UDS responses. Reading it needs the SDDB, knowledge of how HPA, HIA, HIB and LPA relate, and separate tools for versions and reset logs. The app puts these in one place.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VIN to readout files on the share, the SDDB gives names to ECUs, DIDs and DTCs, the translated readout feeds three tabs.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ECU tree, tick a readout to see it in the output pane, search the decoded text, filter by ECU or DID.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Interpretation first: findings are sorted by severity and open on click to show the evidence and which readouts to check. Below are the standby decoder's recorded tables.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domain statements the rules encode. They are the source of truth: a rule must not contradict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Abbreviated from a real readout of 2026-10-16. The point is the kind of statement the tool produces, with evidence one click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numbers come from the identification DIDs of each ECU. The baseline lookup is optional and needs ConfigHub access.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UI is decoder.py. Everything that decides or fetches is in its own module, so a new feature usually touches one module plus a few lines in decoder.py.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need VPN for the readout share and ConfigHub, and an SDDB file for the vehicle platform.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common extension. A rule is a function that reads the translated readout and returns findings. The skill file documents the same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reset_log.py is the model for a new decoder: pure Python, bytes in and rows out. baselines.py is the model for a section that calls an outside service.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keep the tool trustworthy. The interpretation findings are read by people deciding what to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skill is a folder of markdown files that Copilot loads on request, and that a person can read as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are what to keep in mind when reading results. Ideas are suggestions, not commitments.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640080" y="3246120"/>
            <a:ext cx="2011680" cy="73152"/>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515600" cy="1645920"/>
          </a:xfrm>
          <a:prstGeom prst="rect">
            <a:avLst/>
          </a:prstGeom>
          <a:noFill/>
        </p:spPr>
        <p:txBody>
          <a:bodyPr wrap="square" anchor="t" lIns="0" rIns="0" tIns="54864" bIns="54864">
            <a:spAutoFit/>
          </a:bodyPr>
          <a:lstStyle/>
          <a:p>
            <a:pPr algn="l"/>
            <a:r>
              <a:rPr sz="5400" b="1">
                <a:solidFill>
                  <a:srgbClr val="FFFFFF"/>
                </a:solidFill>
                <a:latin typeface="Calibri"/>
              </a:rPr>
              <a:t>Vehicle readout analysis</a:t>
            </a:r>
          </a:p>
        </p:txBody>
      </p:sp>
      <p:sp>
        <p:nvSpPr>
          <p:cNvPr id="4" name="TextBox 3"/>
          <p:cNvSpPr txBox="1"/>
          <p:nvPr/>
        </p:nvSpPr>
        <p:spPr>
          <a:xfrm>
            <a:off x="640080" y="3520440"/>
            <a:ext cx="10515600" cy="1280160"/>
          </a:xfrm>
          <a:prstGeom prst="rect">
            <a:avLst/>
          </a:prstGeom>
          <a:noFill/>
        </p:spPr>
        <p:txBody>
          <a:bodyPr wrap="square" anchor="t" lIns="0" rIns="0" tIns="54864" bIns="54864">
            <a:spAutoFit/>
          </a:bodyPr>
          <a:lstStyle/>
          <a:p>
            <a:pPr algn="l"/>
            <a:r>
              <a:rPr sz="2400" b="0">
                <a:solidFill>
                  <a:srgbClr val="C9D6E5"/>
                </a:solidFill>
                <a:latin typeface="Calibri"/>
              </a:rPr>
              <a:t>Decode a VIN readout, see what it means, check software versions and baselines</a:t>
            </a:r>
          </a:p>
          <a:p>
            <a:pPr algn="l"/>
            <a:r>
              <a:rPr sz="2000" b="1">
                <a:solidFill>
                  <a:srgbClr val="13A89E"/>
                </a:solidFill>
                <a:latin typeface="Calibri"/>
              </a:rPr>
              <a:t>What the tool contains and how to add features</a:t>
            </a:r>
          </a:p>
        </p:txBody>
      </p:sp>
      <p:sp>
        <p:nvSpPr>
          <p:cNvPr id="5" name="TextBox 4"/>
          <p:cNvSpPr txBox="1"/>
          <p:nvPr/>
        </p:nvSpPr>
        <p:spPr>
          <a:xfrm>
            <a:off x="640080" y="6035040"/>
            <a:ext cx="10515600" cy="365760"/>
          </a:xfrm>
          <a:prstGeom prst="rect">
            <a:avLst/>
          </a:prstGeom>
          <a:noFill/>
        </p:spPr>
        <p:txBody>
          <a:bodyPr wrap="square" anchor="t" lIns="0" rIns="0" tIns="54864" bIns="54864">
            <a:spAutoFit/>
          </a:bodyPr>
          <a:lstStyle/>
          <a:p>
            <a:pPr algn="l"/>
            <a:r>
              <a:rPr sz="1400" b="0">
                <a:solidFill>
                  <a:srgbClr val="8FA3BA"/>
                </a:solidFill>
                <a:latin typeface="Calibri"/>
              </a:rPr>
              <a:t>FaultTracing-Scripts  ·  decoder/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Why this tool</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2</a:t>
            </a:r>
          </a:p>
        </p:txBody>
      </p:sp>
      <p:sp>
        <p:nvSpPr>
          <p:cNvPr id="7" name="Rectangle 6"/>
          <p:cNvSpPr/>
          <p:nvPr/>
        </p:nvSpPr>
        <p:spPr>
          <a:xfrm>
            <a:off x="457200" y="1371600"/>
            <a:ext cx="5486400" cy="448056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82296" cy="4480560"/>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433425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The problem</a:t>
            </a:r>
          </a:p>
          <a:p>
            <a:pPr algn="l">
              <a:spcAft>
                <a:spcPts val="900"/>
              </a:spcAft>
            </a:pPr>
            <a:r>
              <a:rPr sz="1700" b="0">
                <a:solidFill>
                  <a:srgbClr val="1F2933"/>
                </a:solidFill>
                <a:latin typeface="Calibri"/>
              </a:rPr>
              <a:t>•  A readout is raw UDS hex, per ECU and per DID</a:t>
            </a:r>
          </a:p>
          <a:p>
            <a:pPr algn="l">
              <a:spcAft>
                <a:spcPts val="900"/>
              </a:spcAft>
            </a:pPr>
            <a:r>
              <a:rPr sz="1700" b="0">
                <a:solidFill>
                  <a:srgbClr val="1F2933"/>
                </a:solidFill>
                <a:latin typeface="Calibri"/>
              </a:rPr>
              <a:t>•  Meaning needs the SDDB and platform knowledge: HPA is controlled by HIA, LPA keeps standby history</a:t>
            </a:r>
          </a:p>
          <a:p>
            <a:pPr algn="l">
              <a:spcAft>
                <a:spcPts val="900"/>
              </a:spcAft>
            </a:pPr>
            <a:r>
              <a:rPr sz="1700" b="0">
                <a:solidFill>
                  <a:srgbClr val="1F2933"/>
                </a:solidFill>
                <a:latin typeface="Calibri"/>
              </a:rPr>
              <a:t>•  Software versions are in ConfigHub</a:t>
            </a:r>
          </a:p>
          <a:p>
            <a:pPr algn="l">
              <a:spcAft>
                <a:spcPts val="900"/>
              </a:spcAft>
            </a:pPr>
            <a:r>
              <a:rPr sz="1700" b="0">
                <a:solidFill>
                  <a:srgbClr val="1F2933"/>
                </a:solidFill>
                <a:latin typeface="Calibri"/>
              </a:rPr>
              <a:t>•  HIA and HIB reset logs needed an Excel macro</a:t>
            </a:r>
          </a:p>
        </p:txBody>
      </p:sp>
      <p:sp>
        <p:nvSpPr>
          <p:cNvPr id="10" name="Rectangle 9"/>
          <p:cNvSpPr/>
          <p:nvPr/>
        </p:nvSpPr>
        <p:spPr>
          <a:xfrm>
            <a:off x="6263640" y="1371600"/>
            <a:ext cx="5486400" cy="448056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371600"/>
            <a:ext cx="82296" cy="4480560"/>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5212080" cy="433425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The tool</a:t>
            </a:r>
          </a:p>
          <a:p>
            <a:pPr algn="l">
              <a:spcAft>
                <a:spcPts val="900"/>
              </a:spcAft>
            </a:pPr>
            <a:r>
              <a:rPr sz="1700" b="0">
                <a:solidFill>
                  <a:srgbClr val="1F2933"/>
                </a:solidFill>
                <a:latin typeface="Calibri"/>
              </a:rPr>
              <a:t>•  Enter a VIN and load its readouts from the share</a:t>
            </a:r>
          </a:p>
          <a:p>
            <a:pPr algn="l">
              <a:spcAft>
                <a:spcPts val="900"/>
              </a:spcAft>
            </a:pPr>
            <a:r>
              <a:rPr sz="1700" b="0">
                <a:solidFill>
                  <a:srgbClr val="1F2933"/>
                </a:solidFill>
                <a:latin typeface="Calibri"/>
              </a:rPr>
              <a:t>•  Translate them with the right SDDB</a:t>
            </a:r>
          </a:p>
          <a:p>
            <a:pPr algn="l">
              <a:spcAft>
                <a:spcPts val="900"/>
              </a:spcAft>
            </a:pPr>
            <a:r>
              <a:rPr sz="1700" b="0">
                <a:solidFill>
                  <a:srgbClr val="1F2933"/>
                </a:solidFill>
                <a:latin typeface="Calibri"/>
              </a:rPr>
              <a:t>•  Read rule-based findings and recorded tables</a:t>
            </a:r>
          </a:p>
          <a:p>
            <a:pPr algn="l">
              <a:spcAft>
                <a:spcPts val="900"/>
              </a:spcAft>
            </a:pPr>
            <a:r>
              <a:rPr sz="1700" b="0">
                <a:solidFill>
                  <a:srgbClr val="1F2933"/>
                </a:solidFill>
                <a:latin typeface="Calibri"/>
              </a:rPr>
              <a:t>•  See software part numbers and MAIN_INT baselines, with links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How it works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3</a:t>
            </a:r>
          </a:p>
        </p:txBody>
      </p:sp>
      <p:sp>
        <p:nvSpPr>
          <p:cNvPr id="7" name="Rounded Rectangle 6"/>
          <p:cNvSpPr/>
          <p:nvPr/>
        </p:nvSpPr>
        <p:spPr>
          <a:xfrm>
            <a:off x="548640" y="1417320"/>
            <a:ext cx="2468880" cy="10972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VIN</a:t>
            </a:r>
          </a:p>
          <a:p>
            <a:pPr algn="ctr"/>
            <a:r>
              <a:rPr sz="1200" b="0">
                <a:solidFill>
                  <a:srgbClr val="FFFFFF"/>
                </a:solidFill>
                <a:latin typeface="Calibri"/>
              </a:rPr>
              <a:t>enter a VIN or pick a file</a:t>
            </a:r>
          </a:p>
        </p:txBody>
      </p:sp>
      <p:sp>
        <p:nvSpPr>
          <p:cNvPr id="8" name="Rounded Rectangle 7"/>
          <p:cNvSpPr/>
          <p:nvPr/>
        </p:nvSpPr>
        <p:spPr>
          <a:xfrm>
            <a:off x="3429000" y="1417320"/>
            <a:ext cx="2468880" cy="10972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Readout share</a:t>
            </a:r>
          </a:p>
          <a:p>
            <a:pPr algn="ctr"/>
            <a:r>
              <a:rPr sz="1200" b="0">
                <a:solidFill>
                  <a:srgbClr val="FFFFFF"/>
                </a:solidFill>
                <a:latin typeface="Calibri"/>
              </a:rPr>
              <a:t>SMB; readouts found in parallel</a:t>
            </a:r>
          </a:p>
        </p:txBody>
      </p:sp>
      <p:sp>
        <p:nvSpPr>
          <p:cNvPr id="9" name="Rounded Rectangle 8"/>
          <p:cNvSpPr/>
          <p:nvPr/>
        </p:nvSpPr>
        <p:spPr>
          <a:xfrm>
            <a:off x="6309360" y="1417320"/>
            <a:ext cx="2468880" cy="10972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SDDB</a:t>
            </a:r>
          </a:p>
          <a:p>
            <a:pPr algn="ctr"/>
            <a:r>
              <a:rPr sz="1200" b="0">
                <a:solidFill>
                  <a:srgbClr val="FFFFFF"/>
                </a:solidFill>
                <a:latin typeface="Calibri"/>
              </a:rPr>
              <a:t>ECUs, DIDs, DTCs; indexed once, cached</a:t>
            </a:r>
          </a:p>
        </p:txBody>
      </p:sp>
      <p:sp>
        <p:nvSpPr>
          <p:cNvPr id="10" name="Rounded Rectangle 9"/>
          <p:cNvSpPr/>
          <p:nvPr/>
        </p:nvSpPr>
        <p:spPr>
          <a:xfrm>
            <a:off x="9189720" y="1417320"/>
            <a:ext cx="2468880" cy="10972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Translated readout</a:t>
            </a:r>
          </a:p>
          <a:p>
            <a:pPr algn="ctr"/>
            <a:r>
              <a:rPr sz="1200" b="0">
                <a:solidFill>
                  <a:srgbClr val="FFFFFF"/>
                </a:solidFill>
                <a:latin typeface="Calibri"/>
              </a:rPr>
              <a:t>decoded text per ECU and DID</a:t>
            </a:r>
          </a:p>
        </p:txBody>
      </p:sp>
      <p:cxnSp>
        <p:nvCxnSpPr>
          <p:cNvPr id="11" name="Connector 10"/>
          <p:cNvCxnSpPr/>
          <p:nvPr/>
        </p:nvCxnSpPr>
        <p:spPr>
          <a:xfrm>
            <a:off x="3017520" y="1965960"/>
            <a:ext cx="41148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965960"/>
            <a:ext cx="41148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778240" y="1965960"/>
            <a:ext cx="41148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424160" y="2514600"/>
            <a:ext cx="0" cy="548640"/>
          </a:xfrm>
          <a:prstGeom prst="line">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063240"/>
            <a:ext cx="8183880" cy="0"/>
          </a:xfrm>
          <a:prstGeom prst="line">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 y="3611880"/>
            <a:ext cx="3520440" cy="1188720"/>
          </a:xfrm>
          <a:prstGeom prst="roundRect">
            <a:avLst>
              <a:gd name="adj" fmla="val 12000"/>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Translated readout tab</a:t>
            </a:r>
          </a:p>
          <a:p>
            <a:pPr algn="ctr"/>
            <a:r>
              <a:rPr sz="1300" b="0">
                <a:solidFill>
                  <a:srgbClr val="FFFFFF"/>
                </a:solidFill>
                <a:latin typeface="Calibri"/>
              </a:rPr>
              <a:t>ECU tree, search, lookup, download</a:t>
            </a:r>
          </a:p>
        </p:txBody>
      </p:sp>
      <p:cxnSp>
        <p:nvCxnSpPr>
          <p:cNvPr id="17" name="Connector 16"/>
          <p:cNvCxnSpPr/>
          <p:nvPr/>
        </p:nvCxnSpPr>
        <p:spPr>
          <a:xfrm>
            <a:off x="2286000" y="3063240"/>
            <a:ext cx="0" cy="5486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43400" y="3611880"/>
            <a:ext cx="3520440" cy="1188720"/>
          </a:xfrm>
          <a:prstGeom prst="roundRect">
            <a:avLst>
              <a:gd name="adj" fmla="val 12000"/>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Readout summary tab</a:t>
            </a:r>
          </a:p>
          <a:p>
            <a:pPr algn="ctr"/>
            <a:r>
              <a:rPr sz="1300" b="0">
                <a:solidFill>
                  <a:srgbClr val="FFFFFF"/>
                </a:solidFill>
                <a:latin typeface="Calibri"/>
              </a:rPr>
              <a:t>interpretation rules, timeline, recorded tables, reset logs</a:t>
            </a:r>
          </a:p>
        </p:txBody>
      </p:sp>
      <p:cxnSp>
        <p:nvCxnSpPr>
          <p:cNvPr id="19" name="Connector 18"/>
          <p:cNvCxnSpPr/>
          <p:nvPr/>
        </p:nvCxnSpPr>
        <p:spPr>
          <a:xfrm>
            <a:off x="6080760" y="3063240"/>
            <a:ext cx="0" cy="5486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11880"/>
            <a:ext cx="3520440" cy="1188720"/>
          </a:xfrm>
          <a:prstGeom prst="roundRect">
            <a:avLst>
              <a:gd name="adj" fmla="val 12000"/>
            </a:avLst>
          </a:prstGeom>
          <a:solidFill>
            <a:srgbClr val="E893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SW versions tab</a:t>
            </a:r>
          </a:p>
          <a:p>
            <a:pPr algn="ctr"/>
            <a:r>
              <a:rPr sz="1300" b="0">
                <a:solidFill>
                  <a:srgbClr val="FFFFFF"/>
                </a:solidFill>
                <a:latin typeface="Calibri"/>
              </a:rPr>
              <a:t>part numbers, ConfigHub baselines, file links</a:t>
            </a:r>
          </a:p>
        </p:txBody>
      </p:sp>
      <p:cxnSp>
        <p:nvCxnSpPr>
          <p:cNvPr id="21" name="Connector 20"/>
          <p:cNvCxnSpPr/>
          <p:nvPr/>
        </p:nvCxnSpPr>
        <p:spPr>
          <a:xfrm>
            <a:off x="9875520" y="3063240"/>
            <a:ext cx="0" cy="5486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5166360"/>
            <a:ext cx="11155680" cy="1188720"/>
          </a:xfrm>
          <a:prstGeom prst="rect">
            <a:avLst/>
          </a:prstGeom>
          <a:noFill/>
        </p:spPr>
        <p:txBody>
          <a:bodyPr wrap="square" lIns="45720" rIns="45720">
            <a:spAutoFit/>
          </a:bodyPr>
          <a:lstStyle/>
          <a:p>
            <a:pPr marL="274320" indent="-256032">
              <a:spcAft>
                <a:spcPts val="800"/>
              </a:spcAft>
              <a:buChar char="•"/>
            </a:pPr>
            <a:r>
              <a:rPr sz="1600">
                <a:solidFill>
                  <a:srgbClr val="1F2933"/>
                </a:solidFill>
                <a:latin typeface="Calibri"/>
              </a:rPr>
              <a:t>Everything slow is cached: SDDB index about 25 s once, then about 2 s; readout discovery 80 s down to 6 s</a:t>
            </a:r>
          </a:p>
          <a:p>
            <a:pPr marL="274320" indent="-256032">
              <a:spcAft>
                <a:spcPts val="800"/>
              </a:spcAft>
              <a:buChar char="•"/>
            </a:pPr>
            <a:r>
              <a:rPr sz="1600">
                <a:solidFill>
                  <a:srgbClr val="1F2933"/>
                </a:solidFill>
                <a:latin typeface="Calibri"/>
              </a:rPr>
              <a:t>Sections, trees and expanders start collapsed; tables word-wrap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Tab 1: Translated readout</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4</a:t>
            </a:r>
          </a:p>
        </p:txBody>
      </p:sp>
      <p:sp>
        <p:nvSpPr>
          <p:cNvPr id="7" name="TextBox 6"/>
          <p:cNvSpPr txBox="1"/>
          <p:nvPr/>
        </p:nvSpPr>
        <p:spPr>
          <a:xfrm>
            <a:off x="548640" y="1463040"/>
            <a:ext cx="11064240" cy="4754880"/>
          </a:xfrm>
          <a:prstGeom prst="rect">
            <a:avLst/>
          </a:prstGeom>
          <a:noFill/>
        </p:spPr>
        <p:txBody>
          <a:bodyPr wrap="square" lIns="45720" rIns="45720">
            <a:spAutoFit/>
          </a:bodyPr>
          <a:lstStyle/>
          <a:p>
            <a:pPr marL="274320" indent="-256032">
              <a:spcAft>
                <a:spcPts val="1400"/>
              </a:spcAft>
              <a:buChar char="•"/>
            </a:pPr>
            <a:r>
              <a:rPr b="1" sz="2000">
                <a:solidFill>
                  <a:srgbClr val="0B2545"/>
                </a:solidFill>
                <a:latin typeface="Calibri"/>
              </a:rPr>
              <a:t>ECU tree</a:t>
            </a:r>
            <a:r>
              <a:rPr sz="2000">
                <a:solidFill>
                  <a:srgbClr val="1F2933"/>
                </a:solidFill>
                <a:latin typeface="Calibri"/>
              </a:rPr>
              <a:t>  ECU, then its readouts; collapsed until you open it, tick what to show</a:t>
            </a:r>
          </a:p>
          <a:p>
            <a:pPr marL="274320" indent="-256032">
              <a:spcAft>
                <a:spcPts val="1400"/>
              </a:spcAft>
              <a:buChar char="•"/>
            </a:pPr>
            <a:r>
              <a:rPr b="1" sz="2000">
                <a:solidFill>
                  <a:srgbClr val="0B2545"/>
                </a:solidFill>
                <a:latin typeface="Calibri"/>
              </a:rPr>
              <a:t>Search and filter</a:t>
            </a:r>
            <a:r>
              <a:rPr sz="2000">
                <a:solidFill>
                  <a:srgbClr val="1F2933"/>
                </a:solidFill>
                <a:latin typeface="Calibri"/>
              </a:rPr>
              <a:t>  decoded text, ECU, DID or DTC</a:t>
            </a:r>
          </a:p>
          <a:p>
            <a:pPr marL="274320" indent="-256032">
              <a:spcAft>
                <a:spcPts val="1400"/>
              </a:spcAft>
              <a:buChar char="•"/>
            </a:pPr>
            <a:r>
              <a:rPr b="1" sz="2000">
                <a:solidFill>
                  <a:srgbClr val="0B2545"/>
                </a:solidFill>
                <a:latin typeface="Calibri"/>
              </a:rPr>
              <a:t>Lookup</a:t>
            </a:r>
            <a:r>
              <a:rPr sz="2000">
                <a:solidFill>
                  <a:srgbClr val="1F2933"/>
                </a:solidFill>
                <a:latin typeface="Calibri"/>
              </a:rPr>
              <a:t>  by ECU, service or DID</a:t>
            </a:r>
          </a:p>
          <a:p>
            <a:pPr marL="274320" indent="-256032">
              <a:spcAft>
                <a:spcPts val="1400"/>
              </a:spcAft>
              <a:buChar char="•"/>
            </a:pPr>
            <a:r>
              <a:rPr b="1" sz="2000">
                <a:solidFill>
                  <a:srgbClr val="0B2545"/>
                </a:solidFill>
                <a:latin typeface="Calibri"/>
              </a:rPr>
              <a:t>Output</a:t>
            </a:r>
            <a:r>
              <a:rPr sz="2000">
                <a:solidFill>
                  <a:srgbClr val="1F2933"/>
                </a:solidFill>
                <a:latin typeface="Calibri"/>
              </a:rPr>
              <a:t>  terminal-style, with the matches highlighted</a:t>
            </a:r>
          </a:p>
          <a:p>
            <a:pPr marL="274320" indent="-256032">
              <a:spcAft>
                <a:spcPts val="1400"/>
              </a:spcAft>
              <a:buChar char="•"/>
            </a:pPr>
            <a:r>
              <a:rPr b="1" sz="2000">
                <a:solidFill>
                  <a:srgbClr val="0B2545"/>
                </a:solidFill>
                <a:latin typeface="Calibri"/>
              </a:rPr>
              <a:t>Download</a:t>
            </a:r>
            <a:r>
              <a:rPr sz="2000">
                <a:solidFill>
                  <a:srgbClr val="1F2933"/>
                </a:solidFill>
                <a:latin typeface="Calibri"/>
              </a:rPr>
              <a:t>  the full translated readout as a text file</a:t>
            </a:r>
          </a:p>
          <a:p>
            <a:pPr marL="274320" indent="-256032">
              <a:spcAft>
                <a:spcPts val="1400"/>
              </a:spcAft>
              <a:buChar char="•"/>
            </a:pPr>
            <a:r>
              <a:rPr b="1" sz="2000">
                <a:solidFill>
                  <a:srgbClr val="0B2545"/>
                </a:solidFill>
                <a:latin typeface="Calibri"/>
              </a:rPr>
              <a:t>Source</a:t>
            </a:r>
            <a:r>
              <a:rPr sz="2000">
                <a:solidFill>
                  <a:srgbClr val="1F2933"/>
                </a:solidFill>
                <a:latin typeface="Calibri"/>
              </a:rPr>
              <a:t>  VIN on the share (latest readouts first), or an uploaded or chosen file; SDDB from a file browser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Tab 2: Readout summary</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5</a:t>
            </a:r>
          </a:p>
        </p:txBody>
      </p:sp>
      <p:sp>
        <p:nvSpPr>
          <p:cNvPr id="7" name="Rectangle 6"/>
          <p:cNvSpPr/>
          <p:nvPr/>
        </p:nvSpPr>
        <p:spPr>
          <a:xfrm>
            <a:off x="457200" y="1371600"/>
            <a:ext cx="5486400" cy="475488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82296" cy="4754880"/>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460857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Interpretation</a:t>
            </a:r>
          </a:p>
          <a:p>
            <a:pPr algn="l">
              <a:spcAft>
                <a:spcPts val="900"/>
              </a:spcAft>
            </a:pPr>
            <a:r>
              <a:rPr sz="1600" b="0">
                <a:solidFill>
                  <a:srgbClr val="1F2933"/>
                </a:solidFill>
                <a:latin typeface="Calibri"/>
              </a:rPr>
              <a:t>•  Findings: issue, warning, info, ok, with counts</a:t>
            </a:r>
          </a:p>
          <a:p>
            <a:pPr algn="l">
              <a:spcAft>
                <a:spcPts val="900"/>
              </a:spcAft>
            </a:pPr>
            <a:r>
              <a:rPr sz="1600" b="0">
                <a:solidFill>
                  <a:srgbClr val="1F2933"/>
                </a:solidFill>
                <a:latin typeface="Calibri"/>
              </a:rPr>
              <a:t>•  Each opens to its evidence and source readouts</a:t>
            </a:r>
          </a:p>
          <a:p>
            <a:pPr algn="l">
              <a:spcAft>
                <a:spcPts val="900"/>
              </a:spcAft>
            </a:pPr>
            <a:r>
              <a:rPr sz="1600" b="0">
                <a:solidFill>
                  <a:srgbClr val="1F2933"/>
                </a:solidFill>
                <a:latin typeface="Calibri"/>
              </a:rPr>
              <a:t>•  Timeline merges standby cycles, FSI errors, platform states, DTCs and HIA restarts</a:t>
            </a:r>
          </a:p>
          <a:p>
            <a:pPr algn="l">
              <a:spcAft>
                <a:spcPts val="900"/>
              </a:spcAft>
            </a:pPr>
            <a:r>
              <a:rPr sz="1600" b="0">
                <a:solidFill>
                  <a:srgbClr val="1F2933"/>
                </a:solidFill>
                <a:latin typeface="Calibri"/>
              </a:rPr>
              <a:t>•  HIA and HIB reset logs (22 FE 04): common data, reset history, application context</a:t>
            </a:r>
          </a:p>
          <a:p>
            <a:pPr algn="l">
              <a:spcAft>
                <a:spcPts val="900"/>
              </a:spcAft>
            </a:pPr>
            <a:r>
              <a:rPr sz="1600" b="0">
                <a:solidFill>
                  <a:srgbClr val="1F2933"/>
                </a:solidFill>
                <a:latin typeface="Calibri"/>
              </a:rPr>
              <a:t>•  Application watchdog table with Essential and Restartable columns</a:t>
            </a:r>
          </a:p>
        </p:txBody>
      </p:sp>
      <p:sp>
        <p:nvSpPr>
          <p:cNvPr id="10" name="Rectangle 9"/>
          <p:cNvSpPr/>
          <p:nvPr/>
        </p:nvSpPr>
        <p:spPr>
          <a:xfrm>
            <a:off x="6263640" y="1371600"/>
            <a:ext cx="5486400" cy="475488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371600"/>
            <a:ext cx="82296" cy="4754880"/>
          </a:xfrm>
          <a:prstGeom prst="rect">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5212080" cy="460857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Recorded data (standby decoder)</a:t>
            </a:r>
          </a:p>
          <a:p>
            <a:pPr algn="l">
              <a:spcAft>
                <a:spcPts val="900"/>
              </a:spcAft>
            </a:pPr>
            <a:r>
              <a:rPr sz="1600" b="0">
                <a:solidFill>
                  <a:srgbClr val="1F2933"/>
                </a:solidFill>
                <a:latin typeface="Calibri"/>
              </a:rPr>
              <a:t>•  Standby events of HPA</a:t>
            </a:r>
          </a:p>
          <a:p>
            <a:pPr algn="l">
              <a:spcAft>
                <a:spcPts val="900"/>
              </a:spcAft>
            </a:pPr>
            <a:r>
              <a:rPr sz="1600" b="0">
                <a:solidFill>
                  <a:srgbClr val="1F2933"/>
                </a:solidFill>
                <a:latin typeface="Calibri"/>
              </a:rPr>
              <a:t>•  FE03 error slots and reference details</a:t>
            </a:r>
          </a:p>
          <a:p>
            <a:pPr algn="l">
              <a:spcAft>
                <a:spcPts val="900"/>
              </a:spcAft>
            </a:pPr>
            <a:r>
              <a:rPr sz="1600" b="0">
                <a:solidFill>
                  <a:srgbClr val="1F2933"/>
                </a:solidFill>
                <a:latin typeface="Calibri"/>
              </a:rPr>
              <a:t>•  Platform state transitions</a:t>
            </a:r>
          </a:p>
          <a:p>
            <a:pPr algn="l">
              <a:spcAft>
                <a:spcPts val="900"/>
              </a:spcAft>
            </a:pPr>
            <a:r>
              <a:rPr sz="1600" b="0">
                <a:solidFill>
                  <a:srgbClr val="1F2933"/>
                </a:solidFill>
                <a:latin typeface="Calibri"/>
              </a:rPr>
              <a:t>•  ECU DTC snapshots with UTC time</a:t>
            </a:r>
          </a:p>
          <a:p>
            <a:pPr algn="l">
              <a:spcAft>
                <a:spcPts val="900"/>
              </a:spcAft>
            </a:pPr>
            <a:r>
              <a:rPr sz="1600" b="0">
                <a:solidFill>
                  <a:srgbClr val="1F2933"/>
                </a:solidFill>
                <a:latin typeface="Calibri"/>
              </a:rPr>
              <a:t>•  Watchdog information</a:t>
            </a:r>
          </a:p>
          <a:p>
            <a:pPr algn="l">
              <a:spcAft>
                <a:spcPts val="900"/>
              </a:spcAft>
            </a:pPr>
            <a:r>
              <a:rPr sz="1600" b="0">
                <a:solidFill>
                  <a:srgbClr val="1F2933"/>
                </a:solidFill>
                <a:latin typeface="Calibri"/>
              </a:rPr>
              <a:t>All sections are collapsed and open on click.</a:t>
            </a:r>
          </a:p>
          <a:p>
            <a:pPr algn="l">
              <a:spcAft>
                <a:spcPts val="900"/>
              </a:spcAft>
            </a:pPr>
            <a:r>
              <a:rPr sz="1600" b="0">
                <a:solidFill>
                  <a:srgbClr val="1F2933"/>
                </a:solidFill>
                <a:latin typeface="Calibri"/>
              </a:rPr>
              <a:t>The whole summary downloads as one Markdown report: every finding with its tables, the timeline, all recorded tables and the raw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The platform model behind the findings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6</a:t>
            </a:r>
          </a:p>
        </p:txBody>
      </p:sp>
      <p:sp>
        <p:nvSpPr>
          <p:cNvPr id="7" name="Rounded Rectangle 6"/>
          <p:cNvSpPr/>
          <p:nvPr/>
        </p:nvSpPr>
        <p:spPr>
          <a:xfrm>
            <a:off x="457200" y="1371600"/>
            <a:ext cx="3108960" cy="1554480"/>
          </a:xfrm>
          <a:prstGeom prst="roundRect">
            <a:avLst>
              <a:gd name="adj" fmla="val 12000"/>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HPA</a:t>
            </a:r>
          </a:p>
          <a:p>
            <a:pPr algn="ctr"/>
            <a:r>
              <a:rPr sz="1200" b="0">
                <a:solidFill>
                  <a:srgbClr val="FFFFFF"/>
                </a:solidFill>
                <a:latin typeface="Calibri"/>
              </a:rPr>
              <a:t>High Performance, QNX. Sleep or standby (SC7); essential applications</a:t>
            </a:r>
          </a:p>
        </p:txBody>
      </p:sp>
      <p:sp>
        <p:nvSpPr>
          <p:cNvPr id="8" name="Rounded Rectangle 7"/>
          <p:cNvSpPr/>
          <p:nvPr/>
        </p:nvSpPr>
        <p:spPr>
          <a:xfrm>
            <a:off x="5029200" y="1371600"/>
            <a:ext cx="3383280" cy="15544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HIA</a:t>
            </a:r>
          </a:p>
          <a:p>
            <a:pPr algn="ctr"/>
            <a:r>
              <a:rPr sz="1200" b="0">
                <a:solidFill>
                  <a:srgbClr val="FFFFFF"/>
                </a:solidFill>
                <a:latin typeface="Calibri"/>
              </a:rPr>
              <a:t>High Integrity A. Controls HPA, stores HPA reset reasons and standby failures</a:t>
            </a:r>
          </a:p>
        </p:txBody>
      </p:sp>
      <p:sp>
        <p:nvSpPr>
          <p:cNvPr id="9" name="Rounded Rectangle 8"/>
          <p:cNvSpPr/>
          <p:nvPr/>
        </p:nvSpPr>
        <p:spPr>
          <a:xfrm>
            <a:off x="9326880" y="1371600"/>
            <a:ext cx="2468880" cy="1554480"/>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HIB</a:t>
            </a:r>
          </a:p>
          <a:p>
            <a:pPr algn="ctr"/>
            <a:r>
              <a:rPr sz="1200" b="0">
                <a:solidFill>
                  <a:srgbClr val="FFFFFF"/>
                </a:solidFill>
                <a:latin typeface="Calibri"/>
              </a:rPr>
              <a:t>High Integrity B. Resets on its own, keeps a reset log</a:t>
            </a:r>
          </a:p>
        </p:txBody>
      </p:sp>
      <p:cxnSp>
        <p:nvCxnSpPr>
          <p:cNvPr id="10" name="Connector 9"/>
          <p:cNvCxnSpPr/>
          <p:nvPr/>
        </p:nvCxnSpPr>
        <p:spPr>
          <a:xfrm>
            <a:off x="3566160" y="1783080"/>
            <a:ext cx="1463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566160" y="1417320"/>
            <a:ext cx="1463040" cy="320040"/>
          </a:xfrm>
          <a:prstGeom prst="rect">
            <a:avLst/>
          </a:prstGeom>
          <a:noFill/>
        </p:spPr>
        <p:txBody>
          <a:bodyPr wrap="square" anchor="t" lIns="0" rIns="0" tIns="54864" bIns="54864">
            <a:spAutoFit/>
          </a:bodyPr>
          <a:lstStyle/>
          <a:p>
            <a:pPr algn="ctr"/>
            <a:r>
              <a:rPr sz="1200" b="1">
                <a:solidFill>
                  <a:srgbClr val="1F2933"/>
                </a:solidFill>
                <a:latin typeface="Calibri"/>
              </a:rPr>
              <a:t>FSI error</a:t>
            </a:r>
          </a:p>
        </p:txBody>
      </p:sp>
      <p:cxnSp>
        <p:nvCxnSpPr>
          <p:cNvPr id="12" name="Connector 11"/>
          <p:cNvCxnSpPr/>
          <p:nvPr/>
        </p:nvCxnSpPr>
        <p:spPr>
          <a:xfrm flipH="1">
            <a:off x="3566160" y="2514600"/>
            <a:ext cx="1463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66160" y="2560320"/>
            <a:ext cx="1463040" cy="320040"/>
          </a:xfrm>
          <a:prstGeom prst="rect">
            <a:avLst/>
          </a:prstGeom>
          <a:noFill/>
        </p:spPr>
        <p:txBody>
          <a:bodyPr wrap="square" anchor="t" lIns="0" rIns="0" tIns="54864" bIns="54864">
            <a:spAutoFit/>
          </a:bodyPr>
          <a:lstStyle/>
          <a:p>
            <a:pPr algn="ctr"/>
            <a:r>
              <a:rPr sz="1200" b="1">
                <a:solidFill>
                  <a:srgbClr val="1F2933"/>
                </a:solidFill>
                <a:latin typeface="Calibri"/>
              </a:rPr>
              <a:t>reset / cold boot</a:t>
            </a:r>
          </a:p>
        </p:txBody>
      </p:sp>
      <p:sp>
        <p:nvSpPr>
          <p:cNvPr id="14" name="Rounded Rectangle 13"/>
          <p:cNvSpPr/>
          <p:nvPr/>
        </p:nvSpPr>
        <p:spPr>
          <a:xfrm>
            <a:off x="5029200" y="3337560"/>
            <a:ext cx="3383280" cy="914400"/>
          </a:xfrm>
          <a:prstGeom prst="roundRect">
            <a:avLst>
              <a:gd name="adj" fmla="val 12000"/>
            </a:avLst>
          </a:prstGeom>
          <a:solidFill>
            <a:srgbClr val="6B77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latin typeface="Calibri"/>
              </a:rPr>
              <a:t>LPA</a:t>
            </a:r>
          </a:p>
          <a:p>
            <a:pPr algn="ctr"/>
            <a:r>
              <a:rPr sz="1200" b="0">
                <a:solidFill>
                  <a:srgbClr val="FFFFFF"/>
                </a:solidFill>
                <a:latin typeface="Calibri"/>
              </a:rPr>
              <a:t>Standby history of SGA, HPA, HIA, HIB</a:t>
            </a:r>
          </a:p>
        </p:txBody>
      </p:sp>
      <p:sp>
        <p:nvSpPr>
          <p:cNvPr id="15" name="TextBox 14"/>
          <p:cNvSpPr txBox="1"/>
          <p:nvPr/>
        </p:nvSpPr>
        <p:spPr>
          <a:xfrm>
            <a:off x="548640" y="4526280"/>
            <a:ext cx="11155680" cy="1920240"/>
          </a:xfrm>
          <a:prstGeom prst="rect">
            <a:avLst/>
          </a:prstGeom>
          <a:noFill/>
        </p:spPr>
        <p:txBody>
          <a:bodyPr wrap="square" lIns="45720" rIns="45720">
            <a:spAutoFit/>
          </a:bodyPr>
          <a:lstStyle/>
          <a:p>
            <a:pPr marL="274320" indent="-256032">
              <a:spcAft>
                <a:spcPts val="500"/>
              </a:spcAft>
              <a:buChar char="•"/>
            </a:pPr>
            <a:r>
              <a:rPr b="1" sz="1500">
                <a:solidFill>
                  <a:srgbClr val="0B2545"/>
                </a:solidFill>
                <a:latin typeface="Calibri"/>
              </a:rPr>
              <a:t>Standby fails</a:t>
            </a:r>
            <a:r>
              <a:rPr sz="1500">
                <a:solidFill>
                  <a:srgbClr val="1F2933"/>
                </a:solidFill>
                <a:latin typeface="Calibri"/>
              </a:rPr>
              <a:t>  reasons are stored in HIA and HPA cold boots instead of resuming</a:t>
            </a:r>
          </a:p>
          <a:p>
            <a:pPr marL="274320" indent="-256032">
              <a:spcAft>
                <a:spcPts val="500"/>
              </a:spcAft>
              <a:buChar char="•"/>
            </a:pPr>
            <a:r>
              <a:rPr b="1" sz="1500">
                <a:solidFill>
                  <a:srgbClr val="0B2545"/>
                </a:solidFill>
                <a:latin typeface="Calibri"/>
              </a:rPr>
              <a:t>Essential application over its restart limit</a:t>
            </a:r>
            <a:r>
              <a:rPr sz="1500">
                <a:solidFill>
                  <a:srgbClr val="1F2933"/>
                </a:solidFill>
                <a:latin typeface="Calibri"/>
              </a:rPr>
              <a:t>  HIA resets HPA</a:t>
            </a:r>
          </a:p>
          <a:p>
            <a:pPr marL="274320" indent="-256032">
              <a:spcAft>
                <a:spcPts val="500"/>
              </a:spcAft>
              <a:buChar char="•"/>
            </a:pPr>
            <a:r>
              <a:rPr b="1" sz="1500">
                <a:solidFill>
                  <a:srgbClr val="0B2545"/>
                </a:solidFill>
                <a:latin typeface="Calibri"/>
              </a:rPr>
              <a:t>A failure or reset of HIA</a:t>
            </a:r>
            <a:r>
              <a:rPr sz="1500">
                <a:solidFill>
                  <a:srgbClr val="1F2933"/>
                </a:solidFill>
                <a:latin typeface="Calibri"/>
              </a:rPr>
              <a:t>  can restart HPA</a:t>
            </a:r>
          </a:p>
          <a:p>
            <a:pPr marL="274320" indent="-256032">
              <a:spcAft>
                <a:spcPts val="500"/>
              </a:spcAft>
              <a:buChar char="•"/>
            </a:pPr>
            <a:r>
              <a:rPr b="1" sz="1500">
                <a:solidFill>
                  <a:srgbClr val="0B2545"/>
                </a:solidFill>
                <a:latin typeface="Calibri"/>
              </a:rPr>
              <a:t>An HPA standby failure does not show in LPA</a:t>
            </a:r>
            <a:r>
              <a:rPr sz="1500">
                <a:solidFill>
                  <a:srgbClr val="1F2933"/>
                </a:solidFill>
                <a:latin typeface="Calibri"/>
              </a:rPr>
              <a:t>  HIA powers off anyway, so LPA counts matter for the other nodes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Example: what one real readout told us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7</a:t>
            </a:r>
          </a:p>
        </p:txBody>
      </p:sp>
      <p:sp>
        <p:nvSpPr>
          <p:cNvPr id="7" name="TextBox 6"/>
          <p:cNvSpPr txBox="1"/>
          <p:nvPr/>
        </p:nvSpPr>
        <p:spPr>
          <a:xfrm>
            <a:off x="548640" y="1463040"/>
            <a:ext cx="11064240" cy="4114800"/>
          </a:xfrm>
          <a:prstGeom prst="rect">
            <a:avLst/>
          </a:prstGeom>
          <a:noFill/>
        </p:spPr>
        <p:txBody>
          <a:bodyPr wrap="square" lIns="45720" rIns="45720">
            <a:spAutoFit/>
          </a:bodyPr>
          <a:lstStyle/>
          <a:p>
            <a:pPr marL="274320" indent="-256032">
              <a:spcAft>
                <a:spcPts val="1400"/>
              </a:spcAft>
              <a:buChar char="•"/>
            </a:pPr>
            <a:r>
              <a:rPr b="1" sz="2000">
                <a:solidFill>
                  <a:srgbClr val="0B2545"/>
                </a:solidFill>
                <a:latin typeface="Calibri"/>
              </a:rPr>
              <a:t>HIA restarted HP</a:t>
            </a:r>
            <a:r>
              <a:rPr sz="2000">
                <a:solidFill>
                  <a:srgbClr val="1F2933"/>
                </a:solidFill>
                <a:latin typeface="Calibri"/>
              </a:rPr>
              <a:t>  on 2026-10-07: cold boot, with thermal and power reasons recorded</a:t>
            </a:r>
          </a:p>
          <a:p>
            <a:pPr marL="274320" indent="-256032">
              <a:spcAft>
                <a:spcPts val="1400"/>
              </a:spcAft>
              <a:buChar char="•"/>
            </a:pPr>
            <a:r>
              <a:rPr b="1" sz="2000">
                <a:solidFill>
                  <a:srgbClr val="0B2545"/>
                </a:solidFill>
                <a:latin typeface="Calibri"/>
              </a:rPr>
              <a:t>HPA standby failures</a:t>
            </a:r>
            <a:r>
              <a:rPr sz="2000">
                <a:solidFill>
                  <a:srgbClr val="1F2933"/>
                </a:solidFill>
                <a:latin typeface="Calibri"/>
              </a:rPr>
              <a:t>  3 counted by HIA (LPA shows none, as the model predicts)</a:t>
            </a:r>
          </a:p>
          <a:p>
            <a:pPr marL="274320" indent="-256032">
              <a:spcAft>
                <a:spcPts val="1400"/>
              </a:spcAft>
              <a:buChar char="•"/>
            </a:pPr>
            <a:r>
              <a:rPr b="1" sz="2000">
                <a:solidFill>
                  <a:srgbClr val="0B2545"/>
                </a:solidFill>
                <a:latin typeface="Calibri"/>
              </a:rPr>
              <a:t>FSI errors</a:t>
            </a:r>
            <a:r>
              <a:rPr sz="2000">
                <a:solidFill>
                  <a:srgbClr val="1F2933"/>
                </a:solidFill>
                <a:latin typeface="Calibri"/>
              </a:rPr>
              <a:t>  19 error slots recorded and classified by origin</a:t>
            </a:r>
          </a:p>
          <a:p>
            <a:pPr marL="274320" indent="-256032">
              <a:spcAft>
                <a:spcPts val="1400"/>
              </a:spcAft>
              <a:buChar char="•"/>
            </a:pPr>
            <a:r>
              <a:rPr b="1" sz="2000">
                <a:solidFill>
                  <a:srgbClr val="0B2545"/>
                </a:solidFill>
                <a:latin typeface="Calibri"/>
              </a:rPr>
              <a:t>Application watchdog</a:t>
            </a:r>
            <a:r>
              <a:rPr sz="2000">
                <a:solidFill>
                  <a:srgbClr val="1F2933"/>
                </a:solidFill>
                <a:latin typeface="Calibri"/>
              </a:rPr>
              <a:t>  150 non-essential application failures, none essential abandoned</a:t>
            </a:r>
          </a:p>
          <a:p>
            <a:pPr marL="274320" indent="-256032">
              <a:spcAft>
                <a:spcPts val="1400"/>
              </a:spcAft>
              <a:buChar char="•"/>
            </a:pPr>
            <a:r>
              <a:rPr b="1" sz="2000">
                <a:solidFill>
                  <a:srgbClr val="0B2545"/>
                </a:solidFill>
                <a:latin typeface="Calibri"/>
              </a:rPr>
              <a:t>HIB reset log</a:t>
            </a:r>
            <a:r>
              <a:rPr sz="2000">
                <a:solidFill>
                  <a:srgbClr val="1F2933"/>
                </a:solidFill>
                <a:latin typeface="Calibri"/>
              </a:rPr>
              <a:t>  last reset ERROR_HOOK, exceptional, reset counter 6, with a stack trace</a:t>
            </a:r>
          </a:p>
          <a:p>
            <a:pPr marL="274320" indent="-256032">
              <a:spcAft>
                <a:spcPts val="1400"/>
              </a:spcAft>
              <a:buChar char="•"/>
            </a:pPr>
            <a:r>
              <a:rPr b="1" sz="2000">
                <a:solidFill>
                  <a:srgbClr val="0B2545"/>
                </a:solidFill>
                <a:latin typeface="Calibri"/>
              </a:rPr>
              <a:t>LPA</a:t>
            </a:r>
            <a:r>
              <a:rPr sz="2000">
                <a:solidFill>
                  <a:srgbClr val="1F2933"/>
                </a:solidFill>
                <a:latin typeface="Calibri"/>
              </a:rPr>
              <a:t>  clean history for the other nodes</a:t>
            </a:r>
          </a:p>
        </p:txBody>
      </p:sp>
      <p:sp>
        <p:nvSpPr>
          <p:cNvPr id="8" name="TextBox 7"/>
          <p:cNvSpPr txBox="1"/>
          <p:nvPr/>
        </p:nvSpPr>
        <p:spPr>
          <a:xfrm>
            <a:off x="548640" y="5852160"/>
            <a:ext cx="11064240" cy="320040"/>
          </a:xfrm>
          <a:prstGeom prst="rect">
            <a:avLst/>
          </a:prstGeom>
          <a:noFill/>
        </p:spPr>
        <p:txBody>
          <a:bodyPr wrap="square" anchor="t" lIns="0" rIns="0" tIns="54864" bIns="54864">
            <a:spAutoFit/>
          </a:bodyPr>
          <a:lstStyle/>
          <a:p>
            <a:pPr algn="l"/>
            <a:r>
              <a:rPr sz="1400" b="0">
                <a:solidFill>
                  <a:srgbClr val="6B7785"/>
                </a:solidFill>
                <a:latin typeface="Calibri"/>
              </a:rPr>
              <a:t>Each finding lists its source readouts, for example HIA 22 FE 14, so you can check it in tab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Tab 3: SW versions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8</a:t>
            </a:r>
          </a:p>
        </p:txBody>
      </p:sp>
      <p:sp>
        <p:nvSpPr>
          <p:cNvPr id="7" name="Rectangle 6"/>
          <p:cNvSpPr/>
          <p:nvPr/>
        </p:nvSpPr>
        <p:spPr>
          <a:xfrm>
            <a:off x="45720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82296" cy="4846320"/>
          </a:xfrm>
          <a:prstGeom prst="rect">
            <a:avLst/>
          </a:prstGeom>
          <a:solidFill>
            <a:srgbClr val="E89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Part numbers</a:t>
            </a:r>
          </a:p>
          <a:p>
            <a:pPr algn="l">
              <a:spcAft>
                <a:spcPts val="900"/>
              </a:spcAft>
            </a:pPr>
            <a:r>
              <a:rPr sz="1600" b="0">
                <a:solidFill>
                  <a:srgbClr val="1F2933"/>
                </a:solidFill>
                <a:latin typeface="Calibri"/>
              </a:rPr>
              <a:t>•  HIA, HIB, HPA, SGA, VESA, VESB</a:t>
            </a:r>
          </a:p>
          <a:p>
            <a:pPr algn="l">
              <a:spcAft>
                <a:spcPts val="900"/>
              </a:spcAft>
            </a:pPr>
            <a:r>
              <a:rPr sz="1600" b="0">
                <a:solidFill>
                  <a:srgbClr val="1F2933"/>
                </a:solidFill>
                <a:latin typeface="Calibri"/>
              </a:rPr>
              <a:t>•  Software modules with part number and edition, for example 32489651 ACP</a:t>
            </a:r>
          </a:p>
          <a:p>
            <a:pPr algn="l">
              <a:spcAft>
                <a:spcPts val="900"/>
              </a:spcAft>
            </a:pPr>
            <a:r>
              <a:rPr sz="1600" b="0">
                <a:solidFill>
                  <a:srgbClr val="1F2933"/>
                </a:solidFill>
                <a:latin typeface="Calibri"/>
              </a:rPr>
              <a:t>•  Diagnostic database, calibration, fingerprint</a:t>
            </a:r>
          </a:p>
          <a:p>
            <a:pPr algn="l">
              <a:spcAft>
                <a:spcPts val="900"/>
              </a:spcAft>
            </a:pPr>
            <a:r>
              <a:rPr sz="1600" b="0">
                <a:solidFill>
                  <a:srgbClr val="1F2933"/>
                </a:solidFill>
                <a:latin typeface="Calibri"/>
              </a:rPr>
              <a:t>•  Core, delivery and serial numbers shown once when all ECUs agree</a:t>
            </a:r>
          </a:p>
        </p:txBody>
      </p:sp>
      <p:sp>
        <p:nvSpPr>
          <p:cNvPr id="10" name="Rectangle 9"/>
          <p:cNvSpPr/>
          <p:nvPr/>
        </p:nvSpPr>
        <p:spPr>
          <a:xfrm>
            <a:off x="626364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371600"/>
            <a:ext cx="82296" cy="4846320"/>
          </a:xfrm>
          <a:prstGeom prst="rect">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MAIN_INT baselines (ConfigHub)</a:t>
            </a:r>
          </a:p>
          <a:p>
            <a:pPr algn="l">
              <a:spcAft>
                <a:spcPts val="900"/>
              </a:spcAft>
            </a:pPr>
            <a:r>
              <a:rPr sz="1500" b="0">
                <a:solidFill>
                  <a:srgbClr val="1F2933"/>
                </a:solidFill>
                <a:latin typeface="Calibri"/>
              </a:rPr>
              <a:t>•  One matching call per ECU, in parallel: about 6 to 11 s</a:t>
            </a:r>
          </a:p>
          <a:p>
            <a:pPr algn="l">
              <a:spcAft>
                <a:spcPts val="900"/>
              </a:spcAft>
            </a:pPr>
            <a:r>
              <a:rPr sz="1500" b="0">
                <a:solidFill>
                  <a:srgbClr val="1F2933"/>
                </a:solidFill>
                <a:latin typeface="Calibri"/>
              </a:rPr>
              <a:t>•  HPA is two ConfigHub positions: HPA and HPAA</a:t>
            </a:r>
          </a:p>
          <a:p>
            <a:pPr algn="l">
              <a:spcAft>
                <a:spcPts val="900"/>
              </a:spcAft>
            </a:pPr>
            <a:r>
              <a:rPr sz="1500" b="0">
                <a:solidFill>
                  <a:srgbClr val="1F2933"/>
                </a:solidFill>
                <a:latin typeface="Calibri"/>
              </a:rPr>
              <a:t>•  Links to each baseline in ConfigHub</a:t>
            </a:r>
          </a:p>
          <a:p>
            <a:pPr algn="l">
              <a:spcAft>
                <a:spcPts val="900"/>
              </a:spcAft>
            </a:pPr>
            <a:r>
              <a:rPr sz="1500" b="0">
                <a:solidFill>
                  <a:srgbClr val="1F2933"/>
                </a:solidFill>
                <a:latin typeface="Calibri"/>
              </a:rPr>
              <a:t>•  Download column: each part's .vbf; your browser signs in to Artifactory</a:t>
            </a:r>
          </a:p>
          <a:p>
            <a:pPr algn="l">
              <a:spcAft>
                <a:spcPts val="900"/>
              </a:spcAft>
            </a:pPr>
            <a:r>
              <a:rPr sz="1500" b="0">
                <a:solidFill>
                  <a:srgbClr val="1F2933"/>
                </a:solidFill>
                <a:latin typeface="Calibri"/>
              </a:rPr>
              <a:t>•  Certificates and 00000000 placeholders are ignored</a:t>
            </a:r>
          </a:p>
          <a:p>
            <a:pPr algn="l">
              <a:spcAft>
                <a:spcPts val="900"/>
              </a:spcAft>
            </a:pPr>
            <a:r>
              <a:rPr sz="1500" b="0">
                <a:solidFill>
                  <a:srgbClr val="1F2933"/>
                </a:solidFill>
                <a:latin typeface="Calibri"/>
              </a:rPr>
              <a:t>•  ConfigHub returns its best three matches, so only the newest versions show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Where things live</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9</a:t>
            </a:r>
          </a:p>
        </p:txBody>
      </p:sp>
      <p:sp>
        <p:nvSpPr>
          <p:cNvPr id="7" name="Rectangle 6"/>
          <p:cNvSpPr/>
          <p:nvPr/>
        </p:nvSpPr>
        <p:spPr>
          <a:xfrm>
            <a:off x="457200" y="123444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40"/>
            <a:ext cx="82296" cy="850392"/>
          </a:xfrm>
          <a:prstGeom prst="rect">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7101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decoder/decoder.py</a:t>
            </a:r>
          </a:p>
          <a:p>
            <a:pPr algn="l"/>
            <a:r>
              <a:rPr sz="1300" b="0">
                <a:solidFill>
                  <a:srgbClr val="1F2933"/>
                </a:solidFill>
                <a:latin typeface="Calibri"/>
              </a:rPr>
              <a:t>Streamlit UI: tabs, ECU tree, tables, buttons</a:t>
            </a:r>
          </a:p>
        </p:txBody>
      </p:sp>
      <p:sp>
        <p:nvSpPr>
          <p:cNvPr id="10" name="Rectangle 9"/>
          <p:cNvSpPr/>
          <p:nvPr/>
        </p:nvSpPr>
        <p:spPr>
          <a:xfrm>
            <a:off x="6126480" y="123444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234440"/>
            <a:ext cx="82296" cy="850392"/>
          </a:xfrm>
          <a:prstGeom prst="rect">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27101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decoder/streamlit_workflow.py</a:t>
            </a:r>
          </a:p>
          <a:p>
            <a:pPr algn="l"/>
            <a:r>
              <a:rPr sz="1300" b="0">
                <a:solidFill>
                  <a:srgbClr val="1F2933"/>
                </a:solidFill>
                <a:latin typeface="Calibri"/>
              </a:rPr>
              <a:t>Readout discovery on the share, SDDB index, translation cache, summary parser</a:t>
            </a:r>
          </a:p>
        </p:txBody>
      </p:sp>
      <p:sp>
        <p:nvSpPr>
          <p:cNvPr id="13" name="Rectangle 12"/>
          <p:cNvSpPr/>
          <p:nvPr/>
        </p:nvSpPr>
        <p:spPr>
          <a:xfrm>
            <a:off x="457200" y="219456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194560"/>
            <a:ext cx="82296" cy="850392"/>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23113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decoder/interpretation.py</a:t>
            </a:r>
          </a:p>
          <a:p>
            <a:pPr algn="l"/>
            <a:r>
              <a:rPr sz="1300" b="0">
                <a:solidFill>
                  <a:srgbClr val="1F2933"/>
                </a:solidFill>
                <a:latin typeface="Calibri"/>
              </a:rPr>
              <a:t>Rules, severities, timeline</a:t>
            </a:r>
          </a:p>
        </p:txBody>
      </p:sp>
      <p:sp>
        <p:nvSpPr>
          <p:cNvPr id="16" name="Rectangle 15"/>
          <p:cNvSpPr/>
          <p:nvPr/>
        </p:nvSpPr>
        <p:spPr>
          <a:xfrm>
            <a:off x="6126480" y="219456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2194560"/>
            <a:ext cx="82296" cy="850392"/>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23113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decoder/reset_log.py</a:t>
            </a:r>
          </a:p>
          <a:p>
            <a:pPr algn="l"/>
            <a:r>
              <a:rPr sz="1300" b="0">
                <a:solidFill>
                  <a:srgbClr val="1F2933"/>
                </a:solidFill>
                <a:latin typeface="Calibri"/>
              </a:rPr>
              <a:t>HIA and HIB reset log decoder (port of the Excel macro)</a:t>
            </a:r>
          </a:p>
        </p:txBody>
      </p:sp>
      <p:sp>
        <p:nvSpPr>
          <p:cNvPr id="19" name="Rectangle 18"/>
          <p:cNvSpPr/>
          <p:nvPr/>
        </p:nvSpPr>
        <p:spPr>
          <a:xfrm>
            <a:off x="457200" y="315468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154680"/>
            <a:ext cx="82296" cy="850392"/>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19125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decoder/summary_report.py</a:t>
            </a:r>
          </a:p>
          <a:p>
            <a:pPr algn="l"/>
            <a:r>
              <a:rPr sz="1300" b="0">
                <a:solidFill>
                  <a:srgbClr val="1F2933"/>
                </a:solidFill>
                <a:latin typeface="Calibri"/>
              </a:rPr>
              <a:t>Markdown report of the Readout summary tab</a:t>
            </a:r>
          </a:p>
        </p:txBody>
      </p:sp>
      <p:sp>
        <p:nvSpPr>
          <p:cNvPr id="22" name="Rectangle 21"/>
          <p:cNvSpPr/>
          <p:nvPr/>
        </p:nvSpPr>
        <p:spPr>
          <a:xfrm>
            <a:off x="6126480" y="315468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154680"/>
            <a:ext cx="82296" cy="850392"/>
          </a:xfrm>
          <a:prstGeom prst="rect">
            <a:avLst/>
          </a:prstGeom>
          <a:solidFill>
            <a:srgbClr val="E89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319125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decoder/sw_versions.py</a:t>
            </a:r>
          </a:p>
          <a:p>
            <a:pPr algn="l"/>
            <a:r>
              <a:rPr sz="1300" b="0">
                <a:solidFill>
                  <a:srgbClr val="1F2933"/>
                </a:solidFill>
                <a:latin typeface="Calibri"/>
              </a:rPr>
              <a:t>Part numbers from the identification DIDs</a:t>
            </a:r>
          </a:p>
        </p:txBody>
      </p:sp>
      <p:sp>
        <p:nvSpPr>
          <p:cNvPr id="25" name="Rectangle 24"/>
          <p:cNvSpPr/>
          <p:nvPr/>
        </p:nvSpPr>
        <p:spPr>
          <a:xfrm>
            <a:off x="457200" y="411480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114800"/>
            <a:ext cx="82296" cy="850392"/>
          </a:xfrm>
          <a:prstGeom prst="rect">
            <a:avLst/>
          </a:prstGeom>
          <a:solidFill>
            <a:srgbClr val="E89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15137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decoder/baselines.py</a:t>
            </a:r>
          </a:p>
          <a:p>
            <a:pPr algn="l"/>
            <a:r>
              <a:rPr sz="1300" b="0">
                <a:solidFill>
                  <a:srgbClr val="1F2933"/>
                </a:solidFill>
                <a:latin typeface="Calibri"/>
              </a:rPr>
              <a:t>ConfigHub baseline matching and links (uses confighub_lookup.py)</a:t>
            </a:r>
          </a:p>
        </p:txBody>
      </p:sp>
      <p:sp>
        <p:nvSpPr>
          <p:cNvPr id="28" name="Rectangle 27"/>
          <p:cNvSpPr/>
          <p:nvPr/>
        </p:nvSpPr>
        <p:spPr>
          <a:xfrm>
            <a:off x="6126480" y="4114800"/>
            <a:ext cx="5486400" cy="850392"/>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4114800"/>
            <a:ext cx="82296" cy="850392"/>
          </a:xfrm>
          <a:prstGeom prst="rect">
            <a:avLst/>
          </a:prstGeom>
          <a:solidFill>
            <a:srgbClr val="6B77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4151376"/>
            <a:ext cx="5212080" cy="777240"/>
          </a:xfrm>
          <a:prstGeom prst="rect">
            <a:avLst/>
          </a:prstGeom>
          <a:noFill/>
        </p:spPr>
        <p:txBody>
          <a:bodyPr wrap="square" anchor="t" lIns="18288" rIns="18288" tIns="54864" bIns="54864">
            <a:spAutoFit/>
          </a:bodyPr>
          <a:lstStyle/>
          <a:p>
            <a:pPr algn="l"/>
            <a:r>
              <a:rPr sz="1600" b="1">
                <a:solidFill>
                  <a:srgbClr val="0B2545"/>
                </a:solidFill>
                <a:latin typeface="Calibri"/>
              </a:rPr>
              <a:t>decoder/test_decoder.py</a:t>
            </a:r>
          </a:p>
          <a:p>
            <a:pPr algn="l"/>
            <a:r>
              <a:rPr sz="1300" b="0">
                <a:solidFill>
                  <a:srgbClr val="1F2933"/>
                </a:solidFill>
                <a:latin typeface="Calibri"/>
              </a:rPr>
              <a:t>Unit tests for the decoder app</a:t>
            </a:r>
          </a:p>
        </p:txBody>
      </p:sp>
      <p:sp>
        <p:nvSpPr>
          <p:cNvPr id="31" name="TextBox 30"/>
          <p:cNvSpPr txBox="1"/>
          <p:nvPr/>
        </p:nvSpPr>
        <p:spPr>
          <a:xfrm>
            <a:off x="457200" y="5212080"/>
            <a:ext cx="11247120" cy="1188720"/>
          </a:xfrm>
          <a:prstGeom prst="rect">
            <a:avLst/>
          </a:prstGeom>
          <a:noFill/>
        </p:spPr>
        <p:txBody>
          <a:bodyPr wrap="square" lIns="45720" rIns="45720">
            <a:spAutoFit/>
          </a:bodyPr>
          <a:lstStyle/>
          <a:p>
            <a:pPr marL="274320" indent="-256032">
              <a:spcAft>
                <a:spcPts val="600"/>
              </a:spcAft>
              <a:buChar char="•"/>
            </a:pPr>
            <a:r>
              <a:rPr b="1" sz="1500">
                <a:solidFill>
                  <a:srgbClr val="0B2545"/>
                </a:solidFill>
                <a:latin typeface="Calibri"/>
              </a:rPr>
              <a:t>Submodules</a:t>
            </a:r>
            <a:r>
              <a:rPr sz="1500">
                <a:solidFill>
                  <a:srgbClr val="1F2933"/>
                </a:solidFill>
                <a:latin typeface="Calibri"/>
              </a:rPr>
              <a:t>  SAT_Readout_decoder (translates readouts with an SDDB) and standby-decoder (summary tables)</a:t>
            </a:r>
          </a:p>
          <a:p>
            <a:pPr marL="274320" indent="-256032">
              <a:spcAft>
                <a:spcPts val="600"/>
              </a:spcAft>
              <a:buChar char="•"/>
            </a:pPr>
            <a:r>
              <a:rPr b="1" sz="1500">
                <a:solidFill>
                  <a:srgbClr val="0B2545"/>
                </a:solidFill>
                <a:latin typeface="Calibri"/>
              </a:rPr>
              <a:t>Skill</a:t>
            </a:r>
            <a:r>
              <a:rPr sz="1500">
                <a:solidFill>
                  <a:srgbClr val="1F2933"/>
                </a:solidFill>
                <a:latin typeface="Calibri"/>
              </a:rPr>
              <a:t>  .github/skills/decoder-summary-interpretation holds the platform model, the DID map and the rule catalog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Run it</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10</a:t>
            </a:r>
          </a:p>
        </p:txBody>
      </p:sp>
      <p:sp>
        <p:nvSpPr>
          <p:cNvPr id="7" name="TextBox 6"/>
          <p:cNvSpPr txBox="1"/>
          <p:nvPr/>
        </p:nvSpPr>
        <p:spPr>
          <a:xfrm>
            <a:off x="457200" y="1463040"/>
            <a:ext cx="5669280" cy="4572000"/>
          </a:xfrm>
          <a:prstGeom prst="rect">
            <a:avLst/>
          </a:prstGeom>
          <a:noFill/>
        </p:spPr>
        <p:txBody>
          <a:bodyPr wrap="square" lIns="45720" rIns="45720">
            <a:spAutoFit/>
          </a:bodyPr>
          <a:lstStyle/>
          <a:p>
            <a:pPr marL="274320" indent="-256032">
              <a:spcAft>
                <a:spcPts val="1400"/>
              </a:spcAft>
              <a:buChar char="•"/>
            </a:pPr>
            <a:r>
              <a:rPr b="1" sz="1800">
                <a:solidFill>
                  <a:srgbClr val="0B2545"/>
                </a:solidFill>
                <a:latin typeface="Calibri"/>
              </a:rPr>
              <a:t>VPN</a:t>
            </a:r>
            <a:r>
              <a:rPr sz="1800">
                <a:solidFill>
                  <a:srgbClr val="1F2933"/>
                </a:solidFill>
                <a:latin typeface="Calibri"/>
              </a:rPr>
              <a:t>  the readout share and ConfigHub</a:t>
            </a:r>
          </a:p>
          <a:p>
            <a:pPr marL="274320" indent="-256032">
              <a:spcAft>
                <a:spcPts val="1400"/>
              </a:spcAft>
              <a:buChar char="•"/>
            </a:pPr>
            <a:r>
              <a:rPr b="1" sz="1800">
                <a:solidFill>
                  <a:srgbClr val="0B2545"/>
                </a:solidFill>
                <a:latin typeface="Calibri"/>
              </a:rPr>
              <a:t>SDDB file</a:t>
            </a:r>
            <a:r>
              <a:rPr sz="1800">
                <a:solidFill>
                  <a:srgbClr val="1F2933"/>
                </a:solidFill>
                <a:latin typeface="Calibri"/>
              </a:rPr>
              <a:t>  put it in ~/Downloads/sddb, or set SAT_SDDB_DIR</a:t>
            </a:r>
          </a:p>
          <a:p>
            <a:pPr marL="274320" indent="-256032">
              <a:spcAft>
                <a:spcPts val="1400"/>
              </a:spcAft>
              <a:buChar char="•"/>
            </a:pPr>
            <a:r>
              <a:rPr b="1" sz="1800">
                <a:solidFill>
                  <a:srgbClr val="0B2545"/>
                </a:solidFill>
                <a:latin typeface="Calibri"/>
              </a:rPr>
              <a:t>ConfigHub login</a:t>
            </a:r>
            <a:r>
              <a:rPr sz="1800">
                <a:solidFill>
                  <a:srgbClr val="1F2933"/>
                </a:solidFill>
                <a:latin typeface="Calibri"/>
              </a:rPr>
              <a:t>  saved in the OS keychain by confighub_lookup.py, or typed into the app</a:t>
            </a:r>
          </a:p>
          <a:p>
            <a:pPr marL="274320" indent="-256032">
              <a:spcAft>
                <a:spcPts val="1400"/>
              </a:spcAft>
              <a:buChar char="•"/>
            </a:pPr>
            <a:r>
              <a:rPr b="1" sz="1800">
                <a:solidFill>
                  <a:srgbClr val="0B2545"/>
                </a:solidFill>
                <a:latin typeface="Calibri"/>
              </a:rPr>
              <a:t>Share login</a:t>
            </a:r>
            <a:r>
              <a:rPr sz="1800">
                <a:solidFill>
                  <a:srgbClr val="1F2933"/>
                </a:solidFill>
                <a:latin typeface="Calibri"/>
              </a:rPr>
              <a:t>  optional; saved in the keychain from the app</a:t>
            </a:r>
          </a:p>
        </p:txBody>
      </p:sp>
      <p:sp>
        <p:nvSpPr>
          <p:cNvPr id="8" name="Rectangle 7"/>
          <p:cNvSpPr/>
          <p:nvPr/>
        </p:nvSpPr>
        <p:spPr>
          <a:xfrm>
            <a:off x="6400800" y="1554480"/>
            <a:ext cx="5303520" cy="30175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a:lstStyle/>
          <a:p>
            <a:pPr algn="l"/>
            <a:r>
              <a:rPr sz="1500">
                <a:solidFill>
                  <a:srgbClr val="E2E8F0"/>
                </a:solidFill>
                <a:latin typeface="Consolas"/>
              </a:rPr>
              <a:t>git clone git@github.com:vkumar-vcc/</a:t>
            </a:r>
          </a:p>
          <a:p>
            <a:pPr algn="l"/>
            <a:r>
              <a:rPr sz="1500">
                <a:solidFill>
                  <a:srgbClr val="E2E8F0"/>
                </a:solidFill>
                <a:latin typeface="Consolas"/>
              </a:rPr>
              <a:t>      FaultTracing-Scripts.git</a:t>
            </a:r>
          </a:p>
          <a:p>
            <a:pPr algn="l"/>
            <a:r>
              <a:rPr sz="1500">
                <a:solidFill>
                  <a:srgbClr val="E2E8F0"/>
                </a:solidFill>
                <a:latin typeface="Consolas"/>
              </a:rPr>
              <a:t>cd FaultTracing-Scripts</a:t>
            </a:r>
          </a:p>
          <a:p>
            <a:pPr algn="l"/>
            <a:r>
              <a:rPr sz="1500">
                <a:solidFill>
                  <a:srgbClr val="E2E8F0"/>
                </a:solidFill>
                <a:latin typeface="Consolas"/>
              </a:rPr>
              <a:t>.\setup_uv.ps1</a:t>
            </a:r>
          </a:p>
          <a:p>
            <a:pPr algn="l"/>
            <a:r>
              <a:rPr sz="1500">
                <a:solidFill>
                  <a:srgbClr val="E2E8F0"/>
                </a:solidFill>
                <a:latin typeface="Consolas"/>
              </a:rPr>
              <a:t>.\.venv\Scripts\Activate.ps1</a:t>
            </a:r>
          </a:p>
          <a:p>
            <a:pPr algn="l"/>
            <a:r>
              <a:rPr sz="1500">
                <a:solidFill>
                  <a:srgbClr val="E2E8F0"/>
                </a:solidFill>
                <a:latin typeface="Consolas"/>
              </a:rPr>
              <a:t> </a:t>
            </a:r>
          </a:p>
          <a:p>
            <a:pPr algn="l"/>
            <a:r>
              <a:rPr sz="1500">
                <a:solidFill>
                  <a:srgbClr val="E2E8F0"/>
                </a:solidFill>
                <a:latin typeface="Consolas"/>
              </a:rPr>
              <a:t>uv run streamlit run decoder\decoder.py</a:t>
            </a:r>
          </a:p>
        </p:txBody>
      </p:sp>
      <p:sp>
        <p:nvSpPr>
          <p:cNvPr id="9" name="TextBox 8"/>
          <p:cNvSpPr txBox="1"/>
          <p:nvPr/>
        </p:nvSpPr>
        <p:spPr>
          <a:xfrm>
            <a:off x="6400800" y="4754880"/>
            <a:ext cx="5303520" cy="320040"/>
          </a:xfrm>
          <a:prstGeom prst="rect">
            <a:avLst/>
          </a:prstGeom>
          <a:noFill/>
        </p:spPr>
        <p:txBody>
          <a:bodyPr wrap="square" anchor="t" lIns="0" rIns="0" tIns="54864" bIns="54864">
            <a:spAutoFit/>
          </a:bodyPr>
          <a:lstStyle/>
          <a:p>
            <a:pPr algn="l"/>
            <a:r>
              <a:rPr sz="1400" b="0">
                <a:solidFill>
                  <a:srgbClr val="6B7785"/>
                </a:solidFill>
                <a:latin typeface="Calibri"/>
              </a:rPr>
              <a:t>Then: enter a VIN, Load readouts, choose the SDDB, Translate.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Add a feature 1: a new interpretation rule</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11</a:t>
            </a:r>
          </a:p>
        </p:txBody>
      </p:sp>
      <p:sp>
        <p:nvSpPr>
          <p:cNvPr id="7" name="TextBox 6"/>
          <p:cNvSpPr txBox="1"/>
          <p:nvPr/>
        </p:nvSpPr>
        <p:spPr>
          <a:xfrm>
            <a:off x="457200" y="1371600"/>
            <a:ext cx="5577840" cy="4937760"/>
          </a:xfrm>
          <a:prstGeom prst="rect">
            <a:avLst/>
          </a:prstGeom>
          <a:noFill/>
        </p:spPr>
        <p:txBody>
          <a:bodyPr wrap="square" lIns="45720" rIns="45720">
            <a:spAutoFit/>
          </a:bodyPr>
          <a:lstStyle/>
          <a:p>
            <a:pPr marL="274320" indent="-256032">
              <a:spcAft>
                <a:spcPts val="1000"/>
              </a:spcAft>
              <a:buChar char="•"/>
            </a:pPr>
            <a:r>
              <a:rPr b="1" sz="1600">
                <a:solidFill>
                  <a:srgbClr val="0B2545"/>
                </a:solidFill>
                <a:latin typeface="Calibri"/>
              </a:rPr>
              <a:t>State the claim</a:t>
            </a:r>
            <a:r>
              <a:rPr sz="1600">
                <a:solidFill>
                  <a:srgbClr val="1F2933"/>
                </a:solidFill>
                <a:latin typeface="Calibri"/>
              </a:rPr>
              <a:t>  and tie it to a platform statement</a:t>
            </a:r>
          </a:p>
          <a:p>
            <a:pPr marL="274320" indent="-256032">
              <a:spcAft>
                <a:spcPts val="1000"/>
              </a:spcAft>
              <a:buChar char="•"/>
            </a:pPr>
            <a:r>
              <a:rPr b="1" sz="1600">
                <a:solidFill>
                  <a:srgbClr val="0B2545"/>
                </a:solidFill>
                <a:latin typeface="Calibri"/>
              </a:rPr>
              <a:t>Find the DID</a:t>
            </a:r>
            <a:r>
              <a:rPr sz="1600">
                <a:solidFill>
                  <a:srgbClr val="1F2933"/>
                </a:solidFill>
                <a:latin typeface="Calibri"/>
              </a:rPr>
              <a:t>  in readout-data-map.md; decode a real readout if missing</a:t>
            </a:r>
          </a:p>
          <a:p>
            <a:pPr marL="274320" indent="-256032">
              <a:spcAft>
                <a:spcPts val="1000"/>
              </a:spcAft>
              <a:buChar char="•"/>
            </a:pPr>
            <a:r>
              <a:rPr b="1" sz="1600">
                <a:solidFill>
                  <a:srgbClr val="0B2545"/>
                </a:solidFill>
                <a:latin typeface="Calibri"/>
              </a:rPr>
              <a:t>Write the rule</a:t>
            </a:r>
            <a:r>
              <a:rPr sz="1600">
                <a:solidFill>
                  <a:srgbClr val="1F2933"/>
                </a:solidFill>
                <a:latin typeface="Calibri"/>
              </a:rPr>
              <a:t>  rule_&lt;topic&gt;(context) in interpretation.py; return [] when data is absent</a:t>
            </a:r>
          </a:p>
          <a:p>
            <a:pPr marL="274320" indent="-256032">
              <a:spcAft>
                <a:spcPts val="1000"/>
              </a:spcAft>
              <a:buChar char="•"/>
            </a:pPr>
            <a:r>
              <a:rPr b="1" sz="1600">
                <a:solidFill>
                  <a:srgbClr val="0B2545"/>
                </a:solidFill>
                <a:latin typeface="Calibri"/>
              </a:rPr>
              <a:t>Pick a severity</a:t>
            </a:r>
            <a:r>
              <a:rPr sz="1600">
                <a:solidFill>
                  <a:srgbClr val="1F2933"/>
                </a:solidFill>
                <a:latin typeface="Calibri"/>
              </a:rPr>
              <a:t>  issue, warning, info or ok</a:t>
            </a:r>
          </a:p>
          <a:p>
            <a:pPr marL="274320" indent="-256032">
              <a:spcAft>
                <a:spcPts val="1000"/>
              </a:spcAft>
              <a:buChar char="•"/>
            </a:pPr>
            <a:r>
              <a:rPr b="1" sz="1600">
                <a:solidFill>
                  <a:srgbClr val="0B2545"/>
                </a:solidFill>
                <a:latin typeface="Calibri"/>
              </a:rPr>
              <a:t>Show the evidence</a:t>
            </a:r>
            <a:r>
              <a:rPr sz="1600">
                <a:solidFill>
                  <a:srgbClr val="1F2933"/>
                </a:solidFill>
                <a:latin typeface="Calibri"/>
              </a:rPr>
              <a:t>  evidence or table, plus sources</a:t>
            </a:r>
          </a:p>
          <a:p>
            <a:pPr marL="274320" indent="-256032">
              <a:spcAft>
                <a:spcPts val="1000"/>
              </a:spcAft>
              <a:buChar char="•"/>
            </a:pPr>
            <a:r>
              <a:rPr b="1" sz="1600">
                <a:solidFill>
                  <a:srgbClr val="0B2545"/>
                </a:solidFill>
                <a:latin typeface="Calibri"/>
              </a:rPr>
              <a:t>Validate</a:t>
            </a:r>
            <a:r>
              <a:rPr sz="1600">
                <a:solidFill>
                  <a:srgbClr val="1F2933"/>
                </a:solidFill>
                <a:latin typeface="Calibri"/>
              </a:rPr>
              <a:t>  on a real readout; add it to rule-catalog.md</a:t>
            </a:r>
          </a:p>
        </p:txBody>
      </p:sp>
      <p:sp>
        <p:nvSpPr>
          <p:cNvPr id="8" name="Rectangle 7"/>
          <p:cNvSpPr/>
          <p:nvPr/>
        </p:nvSpPr>
        <p:spPr>
          <a:xfrm>
            <a:off x="6217920" y="1371600"/>
            <a:ext cx="5577840" cy="47548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a:lstStyle/>
          <a:p>
            <a:pPr algn="l"/>
            <a:r>
              <a:rPr sz="1300">
                <a:solidFill>
                  <a:srgbClr val="E2E8F0"/>
                </a:solidFill>
                <a:latin typeface="Consolas"/>
              </a:rPr>
              <a:t>def rule_example(context):</a:t>
            </a:r>
          </a:p>
          <a:p>
            <a:pPr algn="l"/>
            <a:r>
              <a:rPr sz="1300">
                <a:solidFill>
                  <a:srgbClr val="E2E8F0"/>
                </a:solidFill>
                <a:latin typeface="Consolas"/>
              </a:rPr>
              <a:t>    values = context.values("HIA", "22FE14")</a:t>
            </a:r>
          </a:p>
          <a:p>
            <a:pPr algn="l"/>
            <a:r>
              <a:rPr sz="1300">
                <a:solidFill>
                  <a:srgbClr val="E2E8F0"/>
                </a:solidFill>
                <a:latin typeface="Consolas"/>
              </a:rPr>
              <a:t>    if not values:</a:t>
            </a:r>
          </a:p>
          <a:p>
            <a:pPr algn="l"/>
            <a:r>
              <a:rPr sz="1300">
                <a:solidFill>
                  <a:srgbClr val="E2E8F0"/>
                </a:solidFill>
                <a:latin typeface="Consolas"/>
              </a:rPr>
              <a:t>        return []</a:t>
            </a:r>
          </a:p>
          <a:p>
            <a:pPr algn="l"/>
            <a:r>
              <a:rPr sz="1300">
                <a:solidFill>
                  <a:srgbClr val="E2E8F0"/>
                </a:solidFill>
                <a:latin typeface="Consolas"/>
              </a:rPr>
              <a:t>    failures = to_int(values.get(</a:t>
            </a:r>
          </a:p>
          <a:p>
            <a:pPr algn="l"/>
            <a:r>
              <a:rPr sz="1300">
                <a:solidFill>
                  <a:srgbClr val="E2E8F0"/>
                </a:solidFill>
                <a:latin typeface="Consolas"/>
              </a:rPr>
              <a:t>        "HPA Standby Transition Failure Counter"))</a:t>
            </a:r>
          </a:p>
          <a:p>
            <a:pPr algn="l"/>
            <a:r>
              <a:rPr sz="1300">
                <a:solidFill>
                  <a:srgbClr val="E2E8F0"/>
                </a:solidFill>
                <a:latin typeface="Consolas"/>
              </a:rPr>
              <a:t>    if not failures:</a:t>
            </a:r>
          </a:p>
          <a:p>
            <a:pPr algn="l"/>
            <a:r>
              <a:rPr sz="1300">
                <a:solidFill>
                  <a:srgbClr val="E2E8F0"/>
                </a:solidFill>
                <a:latin typeface="Consolas"/>
              </a:rPr>
              <a:t>        return []</a:t>
            </a:r>
          </a:p>
          <a:p>
            <a:pPr algn="l"/>
            <a:r>
              <a:rPr sz="1300">
                <a:solidFill>
                  <a:srgbClr val="E2E8F0"/>
                </a:solidFill>
                <a:latin typeface="Consolas"/>
              </a:rPr>
              <a:t>    return [finding(</a:t>
            </a:r>
          </a:p>
          <a:p>
            <a:pPr algn="l"/>
            <a:r>
              <a:rPr sz="1300">
                <a:solidFill>
                  <a:srgbClr val="E2E8F0"/>
                </a:solidFill>
                <a:latin typeface="Consolas"/>
              </a:rPr>
              <a:t>        "HPA standby and resume", "issue",</a:t>
            </a:r>
          </a:p>
          <a:p>
            <a:pPr algn="l"/>
            <a:r>
              <a:rPr sz="1300">
                <a:solidFill>
                  <a:srgbClr val="E2E8F0"/>
                </a:solidFill>
                <a:latin typeface="Consolas"/>
              </a:rPr>
              <a:t>        f"HIA counted {failures} failed HPA "</a:t>
            </a:r>
          </a:p>
          <a:p>
            <a:pPr algn="l"/>
            <a:r>
              <a:rPr sz="1300">
                <a:solidFill>
                  <a:srgbClr val="E2E8F0"/>
                </a:solidFill>
                <a:latin typeface="Consolas"/>
              </a:rPr>
              <a:t>        "standby transition(s)",</a:t>
            </a:r>
          </a:p>
          <a:p>
            <a:pPr algn="l"/>
            <a:r>
              <a:rPr sz="1300">
                <a:solidFill>
                  <a:srgbClr val="E2E8F0"/>
                </a:solidFill>
                <a:latin typeface="Consolas"/>
              </a:rPr>
              <a:t>        sources=["HIA 22 FE 14"])]</a:t>
            </a:r>
          </a:p>
          <a:p>
            <a:pPr algn="l"/>
            <a:r>
              <a:rPr sz="1300">
                <a:solidFill>
                  <a:srgbClr val="E2E8F0"/>
                </a:solidFill>
                <a:latin typeface="Consolas"/>
              </a:rPr>
              <a:t> </a:t>
            </a:r>
          </a:p>
          <a:p>
            <a:pPr algn="l"/>
            <a:r>
              <a:rPr sz="1300">
                <a:solidFill>
                  <a:srgbClr val="E2E8F0"/>
                </a:solidFill>
                <a:latin typeface="Consolas"/>
              </a:rPr>
              <a:t>RULES.append(rule_example)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Add a feature 2: a new decoder, or a new section</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12</a:t>
            </a:r>
          </a:p>
        </p:txBody>
      </p:sp>
      <p:sp>
        <p:nvSpPr>
          <p:cNvPr id="7" name="Rectangle 6"/>
          <p:cNvSpPr/>
          <p:nvPr/>
        </p:nvSpPr>
        <p:spPr>
          <a:xfrm>
            <a:off x="45720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82296" cy="4846320"/>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A new DID decoder</a:t>
            </a:r>
          </a:p>
          <a:p>
            <a:pPr algn="l">
              <a:spcAft>
                <a:spcPts val="900"/>
              </a:spcAft>
            </a:pPr>
            <a:r>
              <a:rPr sz="1500" b="0">
                <a:solidFill>
                  <a:srgbClr val="1F2933"/>
                </a:solidFill>
                <a:latin typeface="Calibri"/>
              </a:rPr>
              <a:t>•  Own module, no Streamlit: bytes in, rows out (reset_log.py)</a:t>
            </a:r>
          </a:p>
          <a:p>
            <a:pPr algn="l">
              <a:spcAft>
                <a:spcPts val="900"/>
              </a:spcAft>
            </a:pPr>
            <a:r>
              <a:rPr sz="1500" b="0">
                <a:solidFill>
                  <a:srgbClr val="1F2933"/>
                </a:solidFill>
                <a:latin typeface="Calibri"/>
              </a:rPr>
              <a:t>•  Take the layout from the source of truth and check it against real data</a:t>
            </a:r>
          </a:p>
          <a:p>
            <a:pPr algn="l">
              <a:spcAft>
                <a:spcPts val="900"/>
              </a:spcAft>
            </a:pPr>
            <a:r>
              <a:rPr sz="1500" b="0">
                <a:solidFill>
                  <a:srgbClr val="1F2933"/>
                </a:solidFill>
                <a:latin typeface="Calibri"/>
              </a:rPr>
              <a:t>•  Return it from a rule: finding(table=..., extra_tables=[(title, headers, rows)])</a:t>
            </a:r>
          </a:p>
          <a:p>
            <a:pPr algn="l">
              <a:spcAft>
                <a:spcPts val="900"/>
              </a:spcAft>
            </a:pPr>
            <a:r>
              <a:rPr sz="1500" b="0">
                <a:solidFill>
                  <a:srgbClr val="1F2933"/>
                </a:solidFill>
                <a:latin typeface="Calibri"/>
              </a:rPr>
              <a:t>•  Say in the finding text what is assumed</a:t>
            </a:r>
          </a:p>
          <a:p>
            <a:pPr algn="l">
              <a:spcAft>
                <a:spcPts val="900"/>
              </a:spcAft>
            </a:pPr>
            <a:r>
              <a:rPr sz="1500" b="0">
                <a:solidFill>
                  <a:srgbClr val="1F2933"/>
                </a:solidFill>
                <a:latin typeface="Calibri"/>
              </a:rPr>
              <a:t>•  Add the DID and layout to readout-data-map.md</a:t>
            </a:r>
          </a:p>
        </p:txBody>
      </p:sp>
      <p:sp>
        <p:nvSpPr>
          <p:cNvPr id="10" name="Rectangle 9"/>
          <p:cNvSpPr/>
          <p:nvPr/>
        </p:nvSpPr>
        <p:spPr>
          <a:xfrm>
            <a:off x="626364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371600"/>
            <a:ext cx="82296" cy="4846320"/>
          </a:xfrm>
          <a:prstGeom prst="rect">
            <a:avLst/>
          </a:prstGeom>
          <a:solidFill>
            <a:srgbClr val="2F7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A new section or tab</a:t>
            </a:r>
          </a:p>
          <a:p>
            <a:pPr algn="l">
              <a:spcAft>
                <a:spcPts val="900"/>
              </a:spcAft>
            </a:pPr>
            <a:r>
              <a:rPr sz="1500" b="0">
                <a:solidFill>
                  <a:srgbClr val="1F2933"/>
                </a:solidFill>
                <a:latin typeface="Calibri"/>
              </a:rPr>
              <a:t>•  Write render_&lt;name&gt;(result) in decoder.py and add it to st.tabs(...)</a:t>
            </a:r>
          </a:p>
          <a:p>
            <a:pPr algn="l">
              <a:spcAft>
                <a:spcPts val="900"/>
              </a:spcAft>
            </a:pPr>
            <a:r>
              <a:rPr sz="1500" b="0">
                <a:solidFill>
                  <a:srgbClr val="1F2933"/>
                </a:solidFill>
                <a:latin typeface="Calibri"/>
              </a:rPr>
              <a:t>•  Keep results in the result dict; run slow calls in worker threads (baselines.py)</a:t>
            </a:r>
          </a:p>
          <a:p>
            <a:pPr algn="l">
              <a:spcAft>
                <a:spcPts val="900"/>
              </a:spcAft>
            </a:pPr>
            <a:r>
              <a:rPr sz="1500" b="0">
                <a:solidFill>
                  <a:srgbClr val="1F2933"/>
                </a:solidFill>
                <a:latin typeface="Calibri"/>
              </a:rPr>
              <a:t>•  Use render_wrapped_table; a cell can be a list of (text, url) links</a:t>
            </a:r>
          </a:p>
          <a:p>
            <a:pPr algn="l">
              <a:spcAft>
                <a:spcPts val="900"/>
              </a:spcAft>
            </a:pPr>
            <a:r>
              <a:rPr sz="1500" b="0">
                <a:solidFill>
                  <a:srgbClr val="1F2933"/>
                </a:solidFill>
                <a:latin typeface="Calibri"/>
              </a:rPr>
              <a:t>•  Expanders and sections start collapsed</a:t>
            </a:r>
          </a:p>
          <a:p>
            <a:pPr algn="l">
              <a:spcAft>
                <a:spcPts val="900"/>
              </a:spcAft>
            </a:pPr>
            <a:r>
              <a:rPr sz="1500" b="0">
                <a:solidFill>
                  <a:srgbClr val="1F2933"/>
                </a:solidFill>
                <a:latin typeface="Calibri"/>
              </a:rPr>
              <a:t>•  Cache outside calls, as baselines.py does for an hour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Ground rules for changes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13</a:t>
            </a:r>
          </a:p>
        </p:txBody>
      </p:sp>
      <p:sp>
        <p:nvSpPr>
          <p:cNvPr id="7" name="TextBox 6"/>
          <p:cNvSpPr txBox="1"/>
          <p:nvPr/>
        </p:nvSpPr>
        <p:spPr>
          <a:xfrm>
            <a:off x="548640" y="1463040"/>
            <a:ext cx="11064240" cy="4846320"/>
          </a:xfrm>
          <a:prstGeom prst="rect">
            <a:avLst/>
          </a:prstGeom>
          <a:noFill/>
        </p:spPr>
        <p:txBody>
          <a:bodyPr wrap="square" lIns="45720" rIns="45720">
            <a:spAutoFit/>
          </a:bodyPr>
          <a:lstStyle/>
          <a:p>
            <a:pPr marL="274320" indent="-256032">
              <a:spcAft>
                <a:spcPts val="1100"/>
              </a:spcAft>
              <a:buChar char="•"/>
            </a:pPr>
            <a:r>
              <a:rPr b="1" sz="1900">
                <a:solidFill>
                  <a:srgbClr val="0B2545"/>
                </a:solidFill>
                <a:latin typeface="Calibri"/>
              </a:rPr>
              <a:t>Do not invent data</a:t>
            </a:r>
            <a:r>
              <a:rPr sz="1900">
                <a:solidFill>
                  <a:srgbClr val="1F2933"/>
                </a:solidFill>
                <a:latin typeface="Calibri"/>
              </a:rPr>
              <a:t>  show what the readout says; mark every assumption in the output</a:t>
            </a:r>
          </a:p>
          <a:p>
            <a:pPr marL="274320" indent="-256032">
              <a:spcAft>
                <a:spcPts val="1100"/>
              </a:spcAft>
              <a:buChar char="•"/>
            </a:pPr>
            <a:r>
              <a:rPr b="1" sz="1900">
                <a:solidFill>
                  <a:srgbClr val="0B2545"/>
                </a:solidFill>
                <a:latin typeface="Calibri"/>
              </a:rPr>
              <a:t>Validate on a real readout</a:t>
            </a:r>
            <a:r>
              <a:rPr sz="1900">
                <a:solidFill>
                  <a:srgbClr val="1F2933"/>
                </a:solidFill>
                <a:latin typeface="Calibri"/>
              </a:rPr>
              <a:t>  a synthetic example is not enough</a:t>
            </a:r>
          </a:p>
          <a:p>
            <a:pPr marL="274320" indent="-256032">
              <a:spcAft>
                <a:spcPts val="1100"/>
              </a:spcAft>
              <a:buChar char="•"/>
            </a:pPr>
            <a:r>
              <a:rPr b="1" sz="1900">
                <a:solidFill>
                  <a:srgbClr val="0B2545"/>
                </a:solidFill>
                <a:latin typeface="Calibri"/>
              </a:rPr>
              <a:t>Hedge conclusions</a:t>
            </a:r>
            <a:r>
              <a:rPr sz="1900">
                <a:solidFill>
                  <a:srgbClr val="1F2933"/>
                </a:solidFill>
                <a:latin typeface="Calibri"/>
              </a:rPr>
              <a:t>  "indicates", "consistent with"; show the evidence and source readouts</a:t>
            </a:r>
          </a:p>
          <a:p>
            <a:pPr marL="274320" indent="-256032">
              <a:spcAft>
                <a:spcPts val="1100"/>
              </a:spcAft>
              <a:buChar char="•"/>
            </a:pPr>
            <a:r>
              <a:rPr b="1" sz="1900">
                <a:solidFill>
                  <a:srgbClr val="0B2545"/>
                </a:solidFill>
                <a:latin typeface="Calibri"/>
              </a:rPr>
              <a:t>Never break the page for missing data</a:t>
            </a:r>
            <a:r>
              <a:rPr sz="1900">
                <a:solidFill>
                  <a:srgbClr val="1F2933"/>
                </a:solidFill>
                <a:latin typeface="Calibri"/>
              </a:rPr>
              <a:t>  a rule without its data returns nothing</a:t>
            </a:r>
          </a:p>
          <a:p>
            <a:pPr marL="274320" indent="-256032">
              <a:spcAft>
                <a:spcPts val="1100"/>
              </a:spcAft>
              <a:buChar char="•"/>
            </a:pPr>
            <a:r>
              <a:rPr b="1" sz="1900">
                <a:solidFill>
                  <a:srgbClr val="0B2545"/>
                </a:solidFill>
                <a:latin typeface="Calibri"/>
              </a:rPr>
              <a:t>Keep it fast</a:t>
            </a:r>
            <a:r>
              <a:rPr sz="1900">
                <a:solidFill>
                  <a:srgbClr val="1F2933"/>
                </a:solidFill>
                <a:latin typeface="Calibri"/>
              </a:rPr>
              <a:t>  cache heavy work, use threads for network calls</a:t>
            </a:r>
          </a:p>
          <a:p>
            <a:pPr marL="274320" indent="-256032">
              <a:spcAft>
                <a:spcPts val="1100"/>
              </a:spcAft>
              <a:buChar char="•"/>
            </a:pPr>
            <a:r>
              <a:rPr b="1" sz="1900">
                <a:solidFill>
                  <a:srgbClr val="0B2545"/>
                </a:solidFill>
                <a:latin typeface="Calibri"/>
              </a:rPr>
              <a:t>Update the docs in the same change</a:t>
            </a:r>
            <a:r>
              <a:rPr sz="1900">
                <a:solidFill>
                  <a:srgbClr val="1F2933"/>
                </a:solidFill>
                <a:latin typeface="Calibri"/>
              </a:rPr>
              <a:t>  rule catalog, data map, README</a:t>
            </a:r>
          </a:p>
          <a:p>
            <a:pPr marL="274320" indent="-256032">
              <a:spcAft>
                <a:spcPts val="1100"/>
              </a:spcAft>
              <a:buChar char="•"/>
            </a:pPr>
            <a:r>
              <a:rPr b="1" sz="1900">
                <a:solidFill>
                  <a:srgbClr val="0B2545"/>
                </a:solidFill>
                <a:latin typeface="Calibri"/>
              </a:rPr>
              <a:t>Never print or store secrets</a:t>
            </a:r>
            <a:r>
              <a:rPr sz="1900">
                <a:solidFill>
                  <a:srgbClr val="1F2933"/>
                </a:solidFill>
                <a:latin typeface="Calibri"/>
              </a:rPr>
              <a:t>  logins go to the OS keychain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Use the skill when you extend it</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14</a:t>
            </a:r>
          </a:p>
        </p:txBody>
      </p:sp>
      <p:sp>
        <p:nvSpPr>
          <p:cNvPr id="7" name="TextBox 6"/>
          <p:cNvSpPr txBox="1"/>
          <p:nvPr/>
        </p:nvSpPr>
        <p:spPr>
          <a:xfrm>
            <a:off x="548640" y="1463040"/>
            <a:ext cx="11064240" cy="3291840"/>
          </a:xfrm>
          <a:prstGeom prst="rect">
            <a:avLst/>
          </a:prstGeom>
          <a:noFill/>
        </p:spPr>
        <p:txBody>
          <a:bodyPr wrap="square" lIns="45720" rIns="45720">
            <a:spAutoFit/>
          </a:bodyPr>
          <a:lstStyle/>
          <a:p>
            <a:pPr marL="274320" indent="-256032">
              <a:spcAft>
                <a:spcPts val="1400"/>
              </a:spcAft>
              <a:buChar char="•"/>
            </a:pPr>
            <a:r>
              <a:rPr b="1" sz="1800">
                <a:solidFill>
                  <a:srgbClr val="0B2545"/>
                </a:solidFill>
                <a:latin typeface="Calibri"/>
              </a:rPr>
              <a:t>.github/skills/decoder-summary-interpretation/</a:t>
            </a:r>
            <a:r>
              <a:rPr sz="1800">
                <a:solidFill>
                  <a:srgbClr val="1F2933"/>
                </a:solidFill>
                <a:latin typeface="Calibri"/>
              </a:rPr>
              <a:t>  the folder</a:t>
            </a:r>
          </a:p>
          <a:p>
            <a:pPr marL="274320" indent="-256032">
              <a:spcAft>
                <a:spcPts val="1400"/>
              </a:spcAft>
              <a:buChar char="•"/>
            </a:pPr>
            <a:r>
              <a:rPr b="1" sz="1800">
                <a:solidFill>
                  <a:srgbClr val="0B2545"/>
                </a:solidFill>
                <a:latin typeface="Calibri"/>
              </a:rPr>
              <a:t>SKILL.md</a:t>
            </a:r>
            <a:r>
              <a:rPr sz="1800">
                <a:solidFill>
                  <a:srgbClr val="1F2933"/>
                </a:solidFill>
                <a:latin typeface="Calibri"/>
              </a:rPr>
              <a:t>  platform statements, how to add or change a rule, severity meanings</a:t>
            </a:r>
          </a:p>
          <a:p>
            <a:pPr marL="274320" indent="-256032">
              <a:spcAft>
                <a:spcPts val="1400"/>
              </a:spcAft>
              <a:buChar char="•"/>
            </a:pPr>
            <a:r>
              <a:rPr b="1" sz="1800">
                <a:solidFill>
                  <a:srgbClr val="0B2545"/>
                </a:solidFill>
                <a:latin typeface="Calibri"/>
              </a:rPr>
              <a:t>references/knowledge-model.md</a:t>
            </a:r>
            <a:r>
              <a:rPr sz="1800">
                <a:solidFill>
                  <a:srgbClr val="1F2933"/>
                </a:solidFill>
                <a:latin typeface="Calibri"/>
              </a:rPr>
              <a:t>  the model in detail and the open questions</a:t>
            </a:r>
          </a:p>
          <a:p>
            <a:pPr marL="274320" indent="-256032">
              <a:spcAft>
                <a:spcPts val="1400"/>
              </a:spcAft>
              <a:buChar char="•"/>
            </a:pPr>
            <a:r>
              <a:rPr b="1" sz="1800">
                <a:solidFill>
                  <a:srgbClr val="0B2545"/>
                </a:solidFill>
                <a:latin typeface="Calibri"/>
              </a:rPr>
              <a:t>references/readout-data-map.md</a:t>
            </a:r>
            <a:r>
              <a:rPr sz="1800">
                <a:solidFill>
                  <a:srgbClr val="1F2933"/>
                </a:solidFill>
                <a:latin typeface="Calibri"/>
              </a:rPr>
              <a:t>  DIDs by ECU, fields, reset log layout, ConfigHub calls</a:t>
            </a:r>
          </a:p>
          <a:p>
            <a:pPr marL="274320" indent="-256032">
              <a:spcAft>
                <a:spcPts val="1400"/>
              </a:spcAft>
              <a:buChar char="•"/>
            </a:pPr>
            <a:r>
              <a:rPr b="1" sz="1800">
                <a:solidFill>
                  <a:srgbClr val="0B2545"/>
                </a:solidFill>
                <a:latin typeface="Calibri"/>
              </a:rPr>
              <a:t>references/rule-catalog.md</a:t>
            </a:r>
            <a:r>
              <a:rPr sz="1800">
                <a:solidFill>
                  <a:srgbClr val="1F2933"/>
                </a:solidFill>
                <a:latin typeface="Calibri"/>
              </a:rPr>
              <a:t>  every rule, its inputs and severities, and the finding shape</a:t>
            </a:r>
          </a:p>
        </p:txBody>
      </p:sp>
      <p:sp>
        <p:nvSpPr>
          <p:cNvPr id="8" name="TextBox 7"/>
          <p:cNvSpPr txBox="1"/>
          <p:nvPr/>
        </p:nvSpPr>
        <p:spPr>
          <a:xfrm>
            <a:off x="548640" y="5029200"/>
            <a:ext cx="11064240" cy="320040"/>
          </a:xfrm>
          <a:prstGeom prst="rect">
            <a:avLst/>
          </a:prstGeom>
          <a:noFill/>
        </p:spPr>
        <p:txBody>
          <a:bodyPr wrap="square" anchor="t" lIns="0" rIns="0" tIns="54864" bIns="54864">
            <a:spAutoFit/>
          </a:bodyPr>
          <a:lstStyle/>
          <a:p>
            <a:pPr algn="l"/>
            <a:r>
              <a:rPr sz="1600" b="0">
                <a:solidFill>
                  <a:srgbClr val="1F2933"/>
                </a:solidFill>
                <a:latin typeface="Calibri"/>
              </a:rPr>
              <a:t>Ask Copilot, for example: "add a rule that flags HIB resets by ERROR_HOOK". The skill gives it the platform model and the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Known limits and ideas</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15</a:t>
            </a:r>
          </a:p>
        </p:txBody>
      </p:sp>
      <p:sp>
        <p:nvSpPr>
          <p:cNvPr id="7" name="Rectangle 6"/>
          <p:cNvSpPr/>
          <p:nvPr/>
        </p:nvSpPr>
        <p:spPr>
          <a:xfrm>
            <a:off x="45720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82296" cy="4846320"/>
          </a:xfrm>
          <a:prstGeom prst="rect">
            <a:avLst/>
          </a:prstGeom>
          <a:solidFill>
            <a:srgbClr val="E89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Known limits</a:t>
            </a:r>
          </a:p>
          <a:p>
            <a:pPr algn="l">
              <a:spcAft>
                <a:spcPts val="900"/>
              </a:spcAft>
            </a:pPr>
            <a:r>
              <a:rPr sz="1500" b="0">
                <a:solidFill>
                  <a:srgbClr val="1F2933"/>
                </a:solidFill>
                <a:latin typeface="Calibri"/>
              </a:rPr>
              <a:t>•  Baselines: ConfigHub returns its best three matches, so only the newest versions show</a:t>
            </a:r>
          </a:p>
          <a:p>
            <a:pPr algn="l">
              <a:spcAft>
                <a:spcPts val="900"/>
              </a:spcAft>
            </a:pPr>
            <a:r>
              <a:rPr sz="1500" b="0">
                <a:solidFill>
                  <a:srgbClr val="1F2933"/>
                </a:solidFill>
                <a:latin typeface="Calibri"/>
              </a:rPr>
              <a:t>•  A part number tells which baselines contain it, not which one was installed</a:t>
            </a:r>
          </a:p>
          <a:p>
            <a:pPr algn="l">
              <a:spcAft>
                <a:spcPts val="900"/>
              </a:spcAft>
            </a:pPr>
            <a:r>
              <a:rPr sz="1500" b="0">
                <a:solidFill>
                  <a:srgbClr val="1F2933"/>
                </a:solidFill>
                <a:latin typeface="Calibri"/>
              </a:rPr>
              <a:t>•  Reset log: structure version 0002 differs from the 0001.0002 the Excel sheet was written for; the application context decoding is unverified</a:t>
            </a:r>
          </a:p>
          <a:p>
            <a:pPr algn="l">
              <a:spcAft>
                <a:spcPts val="900"/>
              </a:spcAft>
            </a:pPr>
            <a:r>
              <a:rPr sz="1500" b="0">
                <a:solidFill>
                  <a:srgbClr val="1F2933"/>
                </a:solidFill>
                <a:latin typeface="Calibri"/>
              </a:rPr>
              <a:t>•  The application context decoding is chosen from the reset reason (an assumption)</a:t>
            </a:r>
          </a:p>
          <a:p>
            <a:pPr algn="l">
              <a:spcAft>
                <a:spcPts val="900"/>
              </a:spcAft>
            </a:pPr>
            <a:r>
              <a:rPr sz="1500" b="0">
                <a:solidFill>
                  <a:srgbClr val="1F2933"/>
                </a:solidFill>
                <a:latin typeface="Calibri"/>
              </a:rPr>
              <a:t>•  Part file downloads need an Artifactory login in the browser</a:t>
            </a:r>
          </a:p>
        </p:txBody>
      </p:sp>
      <p:sp>
        <p:nvSpPr>
          <p:cNvPr id="10" name="Rectangle 9"/>
          <p:cNvSpPr/>
          <p:nvPr/>
        </p:nvSpPr>
        <p:spPr>
          <a:xfrm>
            <a:off x="6263640" y="1371600"/>
            <a:ext cx="5486400" cy="4846320"/>
          </a:xfrm>
          <a:prstGeom prst="rect">
            <a:avLst/>
          </a:prstGeom>
          <a:solidFill>
            <a:srgbClr val="FFFFFF"/>
          </a:solidFill>
          <a:ln w="12700">
            <a:solidFill>
              <a:srgbClr val="C8D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371600"/>
            <a:ext cx="82296" cy="4846320"/>
          </a:xfrm>
          <a:prstGeom prst="rect">
            <a:avLst/>
          </a:prstGeom>
          <a:solidFill>
            <a:srgbClr val="2F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5212080" cy="4700016"/>
          </a:xfrm>
          <a:prstGeom prst="rect">
            <a:avLst/>
          </a:prstGeom>
          <a:noFill/>
        </p:spPr>
        <p:txBody>
          <a:bodyPr wrap="square" anchor="t" lIns="18288" rIns="18288" tIns="54864" bIns="54864">
            <a:spAutoFit/>
          </a:bodyPr>
          <a:lstStyle/>
          <a:p>
            <a:pPr algn="l">
              <a:spcAft>
                <a:spcPts val="1200"/>
              </a:spcAft>
            </a:pPr>
            <a:r>
              <a:rPr sz="2000" b="1">
                <a:solidFill>
                  <a:srgbClr val="0B2545"/>
                </a:solidFill>
                <a:latin typeface="Calibri"/>
              </a:rPr>
              <a:t>Ideas</a:t>
            </a:r>
          </a:p>
          <a:p>
            <a:pPr algn="l">
              <a:spcAft>
                <a:spcPts val="900"/>
              </a:spcAft>
            </a:pPr>
            <a:r>
              <a:rPr sz="1500" b="0">
                <a:solidFill>
                  <a:srgbClr val="1F2933"/>
                </a:solidFill>
                <a:latin typeface="Calibri"/>
              </a:rPr>
              <a:t>•  Compare two readouts of the same VIN</a:t>
            </a:r>
          </a:p>
          <a:p>
            <a:pPr algn="l">
              <a:spcAft>
                <a:spcPts val="900"/>
              </a:spcAft>
            </a:pPr>
            <a:r>
              <a:rPr sz="1500" b="0">
                <a:solidFill>
                  <a:srgbClr val="1F2933"/>
                </a:solidFill>
                <a:latin typeface="Calibri"/>
              </a:rPr>
              <a:t>•  More rules, starting with the open questions in knowledge-model.md</a:t>
            </a:r>
          </a:p>
          <a:p>
            <a:pPr algn="l">
              <a:spcAft>
                <a:spcPts val="900"/>
              </a:spcAft>
            </a:pPr>
            <a:r>
              <a:rPr sz="1500" b="0">
                <a:solidFill>
                  <a:srgbClr val="1F2933"/>
                </a:solidFill>
                <a:latin typeface="Calibri"/>
              </a:rPr>
              <a:t>•  Reset log from UART text, as the Excel sheet allows</a:t>
            </a:r>
          </a:p>
          <a:p>
            <a:pPr algn="l">
              <a:spcAft>
                <a:spcPts val="900"/>
              </a:spcAft>
            </a:pPr>
            <a:r>
              <a:rPr sz="1500" b="0">
                <a:solidFill>
                  <a:srgbClr val="1F2933"/>
                </a:solidFill>
                <a:latin typeface="Calibri"/>
              </a:rPr>
              <a:t>•  Rules for SGA and the VES nodes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731520"/>
          </a:xfrm>
          <a:prstGeom prst="rect">
            <a:avLst/>
          </a:prstGeom>
          <a:noFill/>
        </p:spPr>
        <p:txBody>
          <a:bodyPr wrap="square" anchor="ctr" lIns="0" rIns="0" tIns="54864" bIns="54864">
            <a:spAutoFit/>
          </a:bodyPr>
          <a:lstStyle/>
          <a:p>
            <a:pPr algn="l"/>
            <a:r>
              <a:rPr sz="3000" b="1">
                <a:solidFill>
                  <a:srgbClr val="FFFFFF"/>
                </a:solidFill>
                <a:latin typeface="Calibri"/>
              </a:rPr>
              <a:t>Where to find it</a:t>
            </a:r>
          </a:p>
        </p:txBody>
      </p:sp>
      <p:sp>
        <p:nvSpPr>
          <p:cNvPr id="5" name="TextBox 4"/>
          <p:cNvSpPr txBox="1"/>
          <p:nvPr/>
        </p:nvSpPr>
        <p:spPr>
          <a:xfrm>
            <a:off x="457200" y="6473952"/>
            <a:ext cx="8229600" cy="274320"/>
          </a:xfrm>
          <a:prstGeom prst="rect">
            <a:avLst/>
          </a:prstGeom>
          <a:noFill/>
        </p:spPr>
        <p:txBody>
          <a:bodyPr wrap="square" anchor="t" lIns="0" rIns="0" tIns="54864" bIns="54864">
            <a:spAutoFit/>
          </a:bodyPr>
          <a:lstStyle/>
          <a:p>
            <a:pPr algn="l"/>
            <a:r>
              <a:rPr sz="1100" b="0">
                <a:solidFill>
                  <a:srgbClr val="6B7785"/>
                </a:solidFill>
                <a:latin typeface="Calibri"/>
              </a:rPr>
              <a:t>Vehicle readout analysis  ·  FaultTracing-Scripts</a:t>
            </a:r>
          </a:p>
        </p:txBody>
      </p:sp>
      <p:sp>
        <p:nvSpPr>
          <p:cNvPr id="6" name="TextBox 5"/>
          <p:cNvSpPr txBox="1"/>
          <p:nvPr/>
        </p:nvSpPr>
        <p:spPr>
          <a:xfrm>
            <a:off x="10789920" y="6473952"/>
            <a:ext cx="914400" cy="274320"/>
          </a:xfrm>
          <a:prstGeom prst="rect">
            <a:avLst/>
          </a:prstGeom>
          <a:noFill/>
        </p:spPr>
        <p:txBody>
          <a:bodyPr wrap="square" anchor="t" lIns="0" rIns="0" tIns="54864" bIns="54864">
            <a:spAutoFit/>
          </a:bodyPr>
          <a:lstStyle/>
          <a:p>
            <a:pPr algn="r"/>
            <a:r>
              <a:rPr sz="1100" b="0">
                <a:solidFill>
                  <a:srgbClr val="6B7785"/>
                </a:solidFill>
                <a:latin typeface="Calibri"/>
              </a:rPr>
              <a:t>16</a:t>
            </a:r>
          </a:p>
        </p:txBody>
      </p:sp>
      <p:sp>
        <p:nvSpPr>
          <p:cNvPr id="7" name="TextBox 6"/>
          <p:cNvSpPr txBox="1"/>
          <p:nvPr/>
        </p:nvSpPr>
        <p:spPr>
          <a:xfrm>
            <a:off x="548640" y="1554480"/>
            <a:ext cx="11064240" cy="3840480"/>
          </a:xfrm>
          <a:prstGeom prst="rect">
            <a:avLst/>
          </a:prstGeom>
          <a:noFill/>
        </p:spPr>
        <p:txBody>
          <a:bodyPr wrap="square" lIns="45720" rIns="45720">
            <a:spAutoFit/>
          </a:bodyPr>
          <a:lstStyle/>
          <a:p>
            <a:pPr marL="274320" indent="-256032">
              <a:spcAft>
                <a:spcPts val="1600"/>
              </a:spcAft>
              <a:buChar char="•"/>
            </a:pPr>
            <a:r>
              <a:rPr b="1" sz="2000">
                <a:solidFill>
                  <a:srgbClr val="0B2545"/>
                </a:solidFill>
                <a:latin typeface="Calibri"/>
              </a:rPr>
              <a:t>Repository</a:t>
            </a:r>
            <a:r>
              <a:rPr sz="2000">
                <a:solidFill>
                  <a:srgbClr val="1F2933"/>
                </a:solidFill>
                <a:latin typeface="Calibri"/>
              </a:rPr>
              <a:t>  github.com/vkumar-vcc/FaultTracing-Scripts</a:t>
            </a:r>
          </a:p>
          <a:p>
            <a:pPr marL="274320" indent="-256032">
              <a:spcAft>
                <a:spcPts val="1600"/>
              </a:spcAft>
              <a:buChar char="•"/>
            </a:pPr>
            <a:r>
              <a:rPr b="1" sz="2000">
                <a:solidFill>
                  <a:srgbClr val="0B2545"/>
                </a:solidFill>
                <a:latin typeface="Calibri"/>
              </a:rPr>
              <a:t>App</a:t>
            </a:r>
            <a:r>
              <a:rPr sz="2000">
                <a:solidFill>
                  <a:srgbClr val="1F2933"/>
                </a:solidFill>
                <a:latin typeface="Calibri"/>
              </a:rPr>
              <a:t>  decoder/decoder.py, started with uv run streamlit run decoder\decoder.py</a:t>
            </a:r>
          </a:p>
          <a:p>
            <a:pPr marL="274320" indent="-256032">
              <a:spcAft>
                <a:spcPts val="1600"/>
              </a:spcAft>
              <a:buChar char="•"/>
            </a:pPr>
            <a:r>
              <a:rPr b="1" sz="2000">
                <a:solidFill>
                  <a:srgbClr val="0B2545"/>
                </a:solidFill>
                <a:latin typeface="Calibri"/>
              </a:rPr>
              <a:t>Docs</a:t>
            </a:r>
            <a:r>
              <a:rPr sz="2000">
                <a:solidFill>
                  <a:srgbClr val="1F2933"/>
                </a:solidFill>
                <a:latin typeface="Calibri"/>
              </a:rPr>
              <a:t>  README.md, section "Combined Streamlit app"</a:t>
            </a:r>
          </a:p>
          <a:p>
            <a:pPr marL="274320" indent="-256032">
              <a:spcAft>
                <a:spcPts val="1600"/>
              </a:spcAft>
              <a:buChar char="•"/>
            </a:pPr>
            <a:r>
              <a:rPr b="1" sz="2000">
                <a:solidFill>
                  <a:srgbClr val="0B2545"/>
                </a:solidFill>
                <a:latin typeface="Calibri"/>
              </a:rPr>
              <a:t>Skill</a:t>
            </a:r>
            <a:r>
              <a:rPr sz="2000">
                <a:solidFill>
                  <a:srgbClr val="1F2933"/>
                </a:solidFill>
                <a:latin typeface="Calibri"/>
              </a:rPr>
              <a:t>  .github/skills/decoder-summary-interpretation/</a:t>
            </a:r>
          </a:p>
          <a:p>
            <a:pPr marL="274320" indent="-256032">
              <a:spcAft>
                <a:spcPts val="1600"/>
              </a:spcAft>
              <a:buChar char="•"/>
            </a:pPr>
            <a:r>
              <a:rPr b="1" sz="2000">
                <a:solidFill>
                  <a:srgbClr val="0B2545"/>
                </a:solidFill>
                <a:latin typeface="Calibri"/>
              </a:rPr>
              <a:t>Tests</a:t>
            </a:r>
            <a:r>
              <a:rPr sz="2000">
                <a:solidFill>
                  <a:srgbClr val="1F2933"/>
                </a:solidFill>
                <a:latin typeface="Calibri"/>
              </a:rPr>
              <a:t>  decoder/test_decoder.py</a:t>
            </a:r>
          </a:p>
        </p:txBody>
      </p:sp>
      <p:sp>
        <p:nvSpPr>
          <p:cNvPr id="8" name="TextBox 7"/>
          <p:cNvSpPr txBox="1"/>
          <p:nvPr/>
        </p:nvSpPr>
        <p:spPr>
          <a:xfrm>
            <a:off x="548640" y="5669280"/>
            <a:ext cx="11064240" cy="320040"/>
          </a:xfrm>
          <a:prstGeom prst="rect">
            <a:avLst/>
          </a:prstGeom>
          <a:noFill/>
        </p:spPr>
        <p:txBody>
          <a:bodyPr wrap="square" anchor="t" lIns="0" rIns="0" tIns="54864" bIns="54864">
            <a:spAutoFit/>
          </a:bodyPr>
          <a:lstStyle/>
          <a:p>
            <a:pPr algn="l"/>
            <a:r>
              <a:rPr sz="1800" b="1">
                <a:solidFill>
                  <a:srgbClr val="0B2545"/>
                </a:solidFill>
                <a:latin typeface="Calibri"/>
              </a:rPr>
              <a:t>Questions, or a rule you want added? Open an issue or send a pull request.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
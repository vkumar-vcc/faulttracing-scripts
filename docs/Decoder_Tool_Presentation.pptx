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tool: one Streamlit app that takes a VIN, loads its readouts, translates them with an SDDB, explains them, and shows software versions. The second half shows how colleagues can extend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readout is a pile of UDS responses. Reading it needs the SDDB, knowledge of how HPA, HIA, HIB and LPA relate, and separate tools for versions and reset logs. The app puts these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VIN to readout files on the share, the SDDB gives names to ECUs, DIDs and DTCs, the translated readout feeds three tabs.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ECU tree, tick a readout to see it in the output pane, search the decoded text, filter by ECU or DID.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Interpretation first: findings are sorted by severity and open on click to show the evidence and which readouts to check. Below are the standby decoder's recorded tables.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domain statements the rules encode. They are the source of truth: a rule must not contradict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Abbreviated from a real readout of 2026-10-16. The point is the kind of statement the tool produces, with evidence one click away.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numbers come from the identification DIDs of each ECU. The baseline lookup is optional and needs ConfigHub access.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decoder.py. Everything that decides or fetches is in its own module, so a new feature usually touches one module plus a few lines in decoder.py.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need VPN for the readout share and ConfigHub, and an SDDB file for the vehicle platform.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extension. A rule is a function that reads the translated readout and returns findings. The skill file documents the same steps.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reset_log.py is the model for a new decoder: pure Python, bytes in and rows out. baselines.py is the model for a section that calls an outside service.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keep the tool trustworthy. The interpretation findings are read by people deciding what to fix.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skill is a folder of markdown files that Copilot loads on request, and that a person can read as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Limits are what to keep in mind when reading results. Ideas are suggestions, not commitments.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640080" y="3246120"/>
            <a:ext cx="2011680" cy="73152"/>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554480"/>
            <a:ext cx="10515600" cy="1645920"/>
          </a:xfrm>
          <a:prstGeom prst="rect">
            <a:avLst/>
          </a:prstGeom>
          <a:noFill/>
        </p:spPr>
        <p:txBody>
          <a:bodyPr wrap="square" anchor="t" lIns="0" rIns="0" tIns="54864" bIns="54864">
            <a:spAutoFit/>
          </a:bodyPr>
          <a:lstStyle/>
          <a:p>
            <a:pPr algn="l"/>
            <a:r>
              <a:rPr sz="5400" b="1">
                <a:solidFill>
                  <a:srgbClr val="FFFFFF"/>
                </a:solidFill>
                <a:latin typeface="Calibri"/>
              </a:rPr>
              <a:t>Vehicle readout analysis</a:t>
            </a:r>
          </a:p>
        </p:txBody>
      </p:sp>
      <p:sp>
        <p:nvSpPr>
          <p:cNvPr id="4" name="TextBox 3"/>
          <p:cNvSpPr txBox="1"/>
          <p:nvPr/>
        </p:nvSpPr>
        <p:spPr>
          <a:xfrm>
            <a:off x="640080" y="3520440"/>
            <a:ext cx="10515600" cy="1280160"/>
          </a:xfrm>
          <a:prstGeom prst="rect">
            <a:avLst/>
          </a:prstGeom>
          <a:noFill/>
        </p:spPr>
        <p:txBody>
          <a:bodyPr wrap="square" anchor="t" lIns="0" rIns="0" tIns="54864" bIns="54864">
            <a:spAutoFit/>
          </a:bodyPr>
          <a:lstStyle/>
          <a:p>
            <a:pPr algn="l"/>
            <a:r>
              <a:rPr sz="2400" b="0">
                <a:solidFill>
                  <a:srgbClr val="C9D6E5"/>
                </a:solidFill>
                <a:latin typeface="Calibri"/>
              </a:rPr>
              <a:t>Decode a VIN readout, see what it means, check software versions and baselines</a:t>
            </a:r>
          </a:p>
          <a:p>
            <a:pPr algn="l"/>
            <a:r>
              <a:rPr sz="2000" b="1">
                <a:solidFill>
                  <a:srgbClr val="13A89E"/>
                </a:solidFill>
                <a:latin typeface="Calibri"/>
              </a:rPr>
              <a:t>What the tool contains and how to add features</a:t>
            </a:r>
          </a:p>
        </p:txBody>
      </p:sp>
      <p:sp>
        <p:nvSpPr>
          <p:cNvPr id="5" name="TextBox 4"/>
          <p:cNvSpPr txBox="1"/>
          <p:nvPr/>
        </p:nvSpPr>
        <p:spPr>
          <a:xfrm>
            <a:off x="640080" y="6035040"/>
            <a:ext cx="10515600" cy="365760"/>
          </a:xfrm>
          <a:prstGeom prst="rect">
            <a:avLst/>
          </a:prstGeom>
          <a:noFill/>
        </p:spPr>
        <p:txBody>
          <a:bodyPr wrap="square" anchor="t" lIns="0" rIns="0" tIns="54864" bIns="54864">
            <a:spAutoFit/>
          </a:bodyPr>
          <a:lstStyle/>
          <a:p>
            <a:pPr algn="l"/>
            <a:r>
              <a:rPr sz="1400" b="0">
                <a:solidFill>
                  <a:srgbClr val="8FA3BA"/>
                </a:solidFill>
                <a:latin typeface="Calibri"/>
              </a:rPr>
              <a:t>FaultTracing-Scripts  ·  decoder/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Why this tool</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2</a:t>
            </a:r>
          </a:p>
        </p:txBody>
      </p:sp>
      <p:sp>
        <p:nvSpPr>
          <p:cNvPr id="7" name="Rectangle 6"/>
          <p:cNvSpPr/>
          <p:nvPr/>
        </p:nvSpPr>
        <p:spPr>
          <a:xfrm>
            <a:off x="457200" y="1371600"/>
            <a:ext cx="5486400" cy="448056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82296" cy="4480560"/>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44752"/>
            <a:ext cx="5212080" cy="433425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The problem</a:t>
            </a:r>
          </a:p>
          <a:p>
            <a:pPr algn="l">
              <a:spcAft>
                <a:spcPts val="900"/>
              </a:spcAft>
            </a:pPr>
            <a:r>
              <a:rPr sz="1700" b="0">
                <a:solidFill>
                  <a:srgbClr val="1F2933"/>
                </a:solidFill>
                <a:latin typeface="Calibri"/>
              </a:rPr>
              <a:t>•  A readout is raw UDS hex, per ECU and per DID</a:t>
            </a:r>
          </a:p>
          <a:p>
            <a:pPr algn="l">
              <a:spcAft>
                <a:spcPts val="900"/>
              </a:spcAft>
            </a:pPr>
            <a:r>
              <a:rPr sz="1700" b="0">
                <a:solidFill>
                  <a:srgbClr val="1F2933"/>
                </a:solidFill>
                <a:latin typeface="Calibri"/>
              </a:rPr>
              <a:t>•  Meaning needs the SDDB and platform knowledge: HPA is controlled by HIA, LPA keeps standby history</a:t>
            </a:r>
          </a:p>
          <a:p>
            <a:pPr algn="l">
              <a:spcAft>
                <a:spcPts val="900"/>
              </a:spcAft>
            </a:pPr>
            <a:r>
              <a:rPr sz="1700" b="0">
                <a:solidFill>
                  <a:srgbClr val="1F2933"/>
                </a:solidFill>
                <a:latin typeface="Calibri"/>
              </a:rPr>
              <a:t>•  Software versions are in ConfigHub</a:t>
            </a:r>
          </a:p>
          <a:p>
            <a:pPr algn="l">
              <a:spcAft>
                <a:spcPts val="900"/>
              </a:spcAft>
            </a:pPr>
            <a:r>
              <a:rPr sz="1700" b="0">
                <a:solidFill>
                  <a:srgbClr val="1F2933"/>
                </a:solidFill>
                <a:latin typeface="Calibri"/>
              </a:rPr>
              <a:t>•  HIA and HIB reset logs needed an Excel macro</a:t>
            </a:r>
          </a:p>
        </p:txBody>
      </p:sp>
      <p:sp>
        <p:nvSpPr>
          <p:cNvPr id="10" name="Rectangle 9"/>
          <p:cNvSpPr/>
          <p:nvPr/>
        </p:nvSpPr>
        <p:spPr>
          <a:xfrm>
            <a:off x="6263640" y="1371600"/>
            <a:ext cx="5486400" cy="448056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82296" cy="4480560"/>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44752"/>
            <a:ext cx="5212080" cy="433425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The tool</a:t>
            </a:r>
          </a:p>
          <a:p>
            <a:pPr algn="l">
              <a:spcAft>
                <a:spcPts val="900"/>
              </a:spcAft>
            </a:pPr>
            <a:r>
              <a:rPr sz="1700" b="0">
                <a:solidFill>
                  <a:srgbClr val="1F2933"/>
                </a:solidFill>
                <a:latin typeface="Calibri"/>
              </a:rPr>
              <a:t>•  Enter a VIN and load its readouts from the share</a:t>
            </a:r>
          </a:p>
          <a:p>
            <a:pPr algn="l">
              <a:spcAft>
                <a:spcPts val="900"/>
              </a:spcAft>
            </a:pPr>
            <a:r>
              <a:rPr sz="1700" b="0">
                <a:solidFill>
                  <a:srgbClr val="1F2933"/>
                </a:solidFill>
                <a:latin typeface="Calibri"/>
              </a:rPr>
              <a:t>•  Translate them with the right SDDB</a:t>
            </a:r>
          </a:p>
          <a:p>
            <a:pPr algn="l">
              <a:spcAft>
                <a:spcPts val="900"/>
              </a:spcAft>
            </a:pPr>
            <a:r>
              <a:rPr sz="1700" b="0">
                <a:solidFill>
                  <a:srgbClr val="1F2933"/>
                </a:solidFill>
                <a:latin typeface="Calibri"/>
              </a:rPr>
              <a:t>•  Read rule-based findings and recorded tables</a:t>
            </a:r>
          </a:p>
          <a:p>
            <a:pPr algn="l">
              <a:spcAft>
                <a:spcPts val="900"/>
              </a:spcAft>
            </a:pPr>
            <a:r>
              <a:rPr sz="1700" b="0">
                <a:solidFill>
                  <a:srgbClr val="1F2933"/>
                </a:solidFill>
                <a:latin typeface="Calibri"/>
              </a:rPr>
              <a:t>•  See software part numbers and MAIN_INT baselines, with links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How it works</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3</a:t>
            </a:r>
          </a:p>
        </p:txBody>
      </p:sp>
      <p:sp>
        <p:nvSpPr>
          <p:cNvPr id="7" name="Rounded Rectangle 6"/>
          <p:cNvSpPr/>
          <p:nvPr/>
        </p:nvSpPr>
        <p:spPr>
          <a:xfrm>
            <a:off x="548640" y="1417320"/>
            <a:ext cx="2468880" cy="10972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VIN</a:t>
            </a:r>
          </a:p>
          <a:p>
            <a:pPr algn="ctr"/>
            <a:r>
              <a:rPr sz="1200" b="0">
                <a:solidFill>
                  <a:srgbClr val="FFFFFF"/>
                </a:solidFill>
                <a:latin typeface="Calibri"/>
              </a:rPr>
              <a:t>enter a VIN or pick a file</a:t>
            </a:r>
          </a:p>
        </p:txBody>
      </p:sp>
      <p:sp>
        <p:nvSpPr>
          <p:cNvPr id="8" name="Rounded Rectangle 7"/>
          <p:cNvSpPr/>
          <p:nvPr/>
        </p:nvSpPr>
        <p:spPr>
          <a:xfrm>
            <a:off x="3429000" y="1417320"/>
            <a:ext cx="2468880" cy="10972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Readout share</a:t>
            </a:r>
          </a:p>
          <a:p>
            <a:pPr algn="ctr"/>
            <a:r>
              <a:rPr sz="1200" b="0">
                <a:solidFill>
                  <a:srgbClr val="FFFFFF"/>
                </a:solidFill>
                <a:latin typeface="Calibri"/>
              </a:rPr>
              <a:t>SMB; readouts found in parallel</a:t>
            </a:r>
          </a:p>
        </p:txBody>
      </p:sp>
      <p:sp>
        <p:nvSpPr>
          <p:cNvPr id="9" name="Rounded Rectangle 8"/>
          <p:cNvSpPr/>
          <p:nvPr/>
        </p:nvSpPr>
        <p:spPr>
          <a:xfrm>
            <a:off x="6309360" y="1417320"/>
            <a:ext cx="2468880" cy="10972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SDDB</a:t>
            </a:r>
          </a:p>
          <a:p>
            <a:pPr algn="ctr"/>
            <a:r>
              <a:rPr sz="1200" b="0">
                <a:solidFill>
                  <a:srgbClr val="FFFFFF"/>
                </a:solidFill>
                <a:latin typeface="Calibri"/>
              </a:rPr>
              <a:t>ECUs, DIDs, DTCs; indexed once, cached</a:t>
            </a:r>
          </a:p>
        </p:txBody>
      </p:sp>
      <p:sp>
        <p:nvSpPr>
          <p:cNvPr id="10" name="Rounded Rectangle 9"/>
          <p:cNvSpPr/>
          <p:nvPr/>
        </p:nvSpPr>
        <p:spPr>
          <a:xfrm>
            <a:off x="9189720" y="1417320"/>
            <a:ext cx="2468880" cy="10972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Translated readout</a:t>
            </a:r>
          </a:p>
          <a:p>
            <a:pPr algn="ctr"/>
            <a:r>
              <a:rPr sz="1200" b="0">
                <a:solidFill>
                  <a:srgbClr val="FFFFFF"/>
                </a:solidFill>
                <a:latin typeface="Calibri"/>
              </a:rPr>
              <a:t>decoded text per ECU and DID</a:t>
            </a:r>
          </a:p>
        </p:txBody>
      </p:sp>
      <p:cxnSp>
        <p:nvCxnSpPr>
          <p:cNvPr id="11" name="Connector 10"/>
          <p:cNvCxnSpPr/>
          <p:nvPr/>
        </p:nvCxnSpPr>
        <p:spPr>
          <a:xfrm>
            <a:off x="3017520" y="1965960"/>
            <a:ext cx="41148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7880" y="1965960"/>
            <a:ext cx="41148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78240" y="1965960"/>
            <a:ext cx="41148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424160" y="2514600"/>
            <a:ext cx="0" cy="548640"/>
          </a:xfrm>
          <a:prstGeom prst="line">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40280" y="3063240"/>
            <a:ext cx="8183880" cy="0"/>
          </a:xfrm>
          <a:prstGeom prst="line">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 y="3611880"/>
            <a:ext cx="3520440" cy="1188720"/>
          </a:xfrm>
          <a:prstGeom prst="roundRect">
            <a:avLst>
              <a:gd name="adj" fmla="val 12000"/>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Translated readout tab</a:t>
            </a:r>
          </a:p>
          <a:p>
            <a:pPr algn="ctr"/>
            <a:r>
              <a:rPr sz="1300" b="0">
                <a:solidFill>
                  <a:srgbClr val="FFFFFF"/>
                </a:solidFill>
                <a:latin typeface="Calibri"/>
              </a:rPr>
              <a:t>ECU tree, search, lookup, download</a:t>
            </a:r>
          </a:p>
        </p:txBody>
      </p:sp>
      <p:cxnSp>
        <p:nvCxnSpPr>
          <p:cNvPr id="17" name="Connector 16"/>
          <p:cNvCxnSpPr/>
          <p:nvPr/>
        </p:nvCxnSpPr>
        <p:spPr>
          <a:xfrm>
            <a:off x="2286000" y="3063240"/>
            <a:ext cx="0" cy="54864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3611880"/>
            <a:ext cx="3520440" cy="1188720"/>
          </a:xfrm>
          <a:prstGeom prst="roundRect">
            <a:avLst>
              <a:gd name="adj" fmla="val 12000"/>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Readout summary tab</a:t>
            </a:r>
          </a:p>
          <a:p>
            <a:pPr algn="ctr"/>
            <a:r>
              <a:rPr sz="1300" b="0">
                <a:solidFill>
                  <a:srgbClr val="FFFFFF"/>
                </a:solidFill>
                <a:latin typeface="Calibri"/>
              </a:rPr>
              <a:t>interpretation rules, timeline, recorded tables, reset logs</a:t>
            </a:r>
          </a:p>
        </p:txBody>
      </p:sp>
      <p:cxnSp>
        <p:nvCxnSpPr>
          <p:cNvPr id="19" name="Connector 18"/>
          <p:cNvCxnSpPr/>
          <p:nvPr/>
        </p:nvCxnSpPr>
        <p:spPr>
          <a:xfrm>
            <a:off x="6080760" y="3063240"/>
            <a:ext cx="0" cy="54864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8160" y="3611880"/>
            <a:ext cx="3520440" cy="1188720"/>
          </a:xfrm>
          <a:prstGeom prst="roundRect">
            <a:avLst>
              <a:gd name="adj" fmla="val 12000"/>
            </a:avLst>
          </a:prstGeom>
          <a:solidFill>
            <a:srgbClr val="E893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SW versions tab</a:t>
            </a:r>
          </a:p>
          <a:p>
            <a:pPr algn="ctr"/>
            <a:r>
              <a:rPr sz="1300" b="0">
                <a:solidFill>
                  <a:srgbClr val="FFFFFF"/>
                </a:solidFill>
                <a:latin typeface="Calibri"/>
              </a:rPr>
              <a:t>part numbers, ConfigHub baselines, file links</a:t>
            </a:r>
          </a:p>
        </p:txBody>
      </p:sp>
      <p:cxnSp>
        <p:nvCxnSpPr>
          <p:cNvPr id="21" name="Connector 20"/>
          <p:cNvCxnSpPr/>
          <p:nvPr/>
        </p:nvCxnSpPr>
        <p:spPr>
          <a:xfrm>
            <a:off x="9875520" y="3063240"/>
            <a:ext cx="0" cy="54864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5166360"/>
            <a:ext cx="11155680" cy="1188720"/>
          </a:xfrm>
          <a:prstGeom prst="rect">
            <a:avLst/>
          </a:prstGeom>
          <a:noFill/>
        </p:spPr>
        <p:txBody>
          <a:bodyPr wrap="square" lIns="45720" rIns="45720">
            <a:spAutoFit/>
          </a:bodyPr>
          <a:lstStyle/>
          <a:p>
            <a:pPr marL="274320" indent="-256032">
              <a:spcAft>
                <a:spcPts val="800"/>
              </a:spcAft>
              <a:buChar char="•"/>
            </a:pPr>
            <a:r>
              <a:rPr sz="1600">
                <a:solidFill>
                  <a:srgbClr val="1F2933"/>
                </a:solidFill>
                <a:latin typeface="Calibri"/>
              </a:rPr>
              <a:t>Everything slow is cached: SDDB index about 25 s once, then about 2 s; readout discovery 80 s down to 6 s</a:t>
            </a:r>
          </a:p>
          <a:p>
            <a:pPr marL="274320" indent="-256032">
              <a:spcAft>
                <a:spcPts val="800"/>
              </a:spcAft>
              <a:buChar char="•"/>
            </a:pPr>
            <a:r>
              <a:rPr sz="1600">
                <a:solidFill>
                  <a:srgbClr val="1F2933"/>
                </a:solidFill>
                <a:latin typeface="Calibri"/>
              </a:rPr>
              <a:t>Sections, trees and expanders start collapsed; tables word-wrap</a:t>
            </a:r>
          </a:p>
          <a:p>
            <a:pPr marL="274320" indent="-256032">
              <a:spcAft>
                <a:spcPts val="800"/>
              </a:spcAft>
              <a:buChar char="•"/>
            </a:pPr>
            <a:r>
              <a:rPr sz="1600">
                <a:solidFill>
                  <a:srgbClr val="1F2933"/>
                </a:solidFill>
                <a:latin typeface="Calibri"/>
              </a:rPr>
              <a:t>A fourth tab, Compare readouts, lists what changed between two readouts of the same VIN, node by node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Tab 1: Translated readout</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4</a:t>
            </a:r>
          </a:p>
        </p:txBody>
      </p:sp>
      <p:sp>
        <p:nvSpPr>
          <p:cNvPr id="7" name="TextBox 6"/>
          <p:cNvSpPr txBox="1"/>
          <p:nvPr/>
        </p:nvSpPr>
        <p:spPr>
          <a:xfrm>
            <a:off x="548640" y="1463040"/>
            <a:ext cx="11064240" cy="4754880"/>
          </a:xfrm>
          <a:prstGeom prst="rect">
            <a:avLst/>
          </a:prstGeom>
          <a:noFill/>
        </p:spPr>
        <p:txBody>
          <a:bodyPr wrap="square" lIns="45720" rIns="45720">
            <a:spAutoFit/>
          </a:bodyPr>
          <a:lstStyle/>
          <a:p>
            <a:pPr marL="274320" indent="-256032">
              <a:spcAft>
                <a:spcPts val="1400"/>
              </a:spcAft>
              <a:buChar char="•"/>
            </a:pPr>
            <a:r>
              <a:rPr b="1" sz="2000">
                <a:solidFill>
                  <a:srgbClr val="0B2545"/>
                </a:solidFill>
                <a:latin typeface="Calibri"/>
              </a:rPr>
              <a:t>ECU tree</a:t>
            </a:r>
            <a:r>
              <a:rPr sz="2000">
                <a:solidFill>
                  <a:srgbClr val="1F2933"/>
                </a:solidFill>
                <a:latin typeface="Calibri"/>
              </a:rPr>
              <a:t>  ECU, then its readouts; collapsed until you open it, tick what to show</a:t>
            </a:r>
          </a:p>
          <a:p>
            <a:pPr marL="274320" indent="-256032">
              <a:spcAft>
                <a:spcPts val="1400"/>
              </a:spcAft>
              <a:buChar char="•"/>
            </a:pPr>
            <a:r>
              <a:rPr b="1" sz="2000">
                <a:solidFill>
                  <a:srgbClr val="0B2545"/>
                </a:solidFill>
                <a:latin typeface="Calibri"/>
              </a:rPr>
              <a:t>Search and filter</a:t>
            </a:r>
            <a:r>
              <a:rPr sz="2000">
                <a:solidFill>
                  <a:srgbClr val="1F2933"/>
                </a:solidFill>
                <a:latin typeface="Calibri"/>
              </a:rPr>
              <a:t>  decoded text, ECU, DID or DTC</a:t>
            </a:r>
          </a:p>
          <a:p>
            <a:pPr marL="274320" indent="-256032">
              <a:spcAft>
                <a:spcPts val="1400"/>
              </a:spcAft>
              <a:buChar char="•"/>
            </a:pPr>
            <a:r>
              <a:rPr b="1" sz="2000">
                <a:solidFill>
                  <a:srgbClr val="0B2545"/>
                </a:solidFill>
                <a:latin typeface="Calibri"/>
              </a:rPr>
              <a:t>Lookup</a:t>
            </a:r>
            <a:r>
              <a:rPr sz="2000">
                <a:solidFill>
                  <a:srgbClr val="1F2933"/>
                </a:solidFill>
                <a:latin typeface="Calibri"/>
              </a:rPr>
              <a:t>  by ECU, service or DID</a:t>
            </a:r>
          </a:p>
          <a:p>
            <a:pPr marL="274320" indent="-256032">
              <a:spcAft>
                <a:spcPts val="1400"/>
              </a:spcAft>
              <a:buChar char="•"/>
            </a:pPr>
            <a:r>
              <a:rPr b="1" sz="2000">
                <a:solidFill>
                  <a:srgbClr val="0B2545"/>
                </a:solidFill>
                <a:latin typeface="Calibri"/>
              </a:rPr>
              <a:t>Output</a:t>
            </a:r>
            <a:r>
              <a:rPr sz="2000">
                <a:solidFill>
                  <a:srgbClr val="1F2933"/>
                </a:solidFill>
                <a:latin typeface="Calibri"/>
              </a:rPr>
              <a:t>  terminal-style, with the matches highlighted</a:t>
            </a:r>
          </a:p>
          <a:p>
            <a:pPr marL="274320" indent="-256032">
              <a:spcAft>
                <a:spcPts val="1400"/>
              </a:spcAft>
              <a:buChar char="•"/>
            </a:pPr>
            <a:r>
              <a:rPr b="1" sz="2000">
                <a:solidFill>
                  <a:srgbClr val="0B2545"/>
                </a:solidFill>
                <a:latin typeface="Calibri"/>
              </a:rPr>
              <a:t>Download</a:t>
            </a:r>
            <a:r>
              <a:rPr sz="2000">
                <a:solidFill>
                  <a:srgbClr val="1F2933"/>
                </a:solidFill>
                <a:latin typeface="Calibri"/>
              </a:rPr>
              <a:t>  the full translated readout as a text file</a:t>
            </a:r>
          </a:p>
          <a:p>
            <a:pPr marL="274320" indent="-256032">
              <a:spcAft>
                <a:spcPts val="1400"/>
              </a:spcAft>
              <a:buChar char="•"/>
            </a:pPr>
            <a:r>
              <a:rPr b="1" sz="2000">
                <a:solidFill>
                  <a:srgbClr val="0B2545"/>
                </a:solidFill>
                <a:latin typeface="Calibri"/>
              </a:rPr>
              <a:t>Source</a:t>
            </a:r>
            <a:r>
              <a:rPr sz="2000">
                <a:solidFill>
                  <a:srgbClr val="1F2933"/>
                </a:solidFill>
                <a:latin typeface="Calibri"/>
              </a:rPr>
              <a:t>  VIN on the share (latest readouts first), or an uploaded or chosen file; SDDB from a file browser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Tab 2: Readout summary</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5</a:t>
            </a:r>
          </a:p>
        </p:txBody>
      </p:sp>
      <p:sp>
        <p:nvSpPr>
          <p:cNvPr id="7" name="Rectangle 6"/>
          <p:cNvSpPr/>
          <p:nvPr/>
        </p:nvSpPr>
        <p:spPr>
          <a:xfrm>
            <a:off x="457200" y="1371600"/>
            <a:ext cx="5486400" cy="475488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82296" cy="4754880"/>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44752"/>
            <a:ext cx="5212080" cy="460857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Interpretation</a:t>
            </a:r>
          </a:p>
          <a:p>
            <a:pPr algn="l">
              <a:spcAft>
                <a:spcPts val="900"/>
              </a:spcAft>
            </a:pPr>
            <a:r>
              <a:rPr sz="1600" b="0">
                <a:solidFill>
                  <a:srgbClr val="1F2933"/>
                </a:solidFill>
                <a:latin typeface="Calibri"/>
              </a:rPr>
              <a:t>•  Findings: issue, warning, info, ok, with counts</a:t>
            </a:r>
          </a:p>
          <a:p>
            <a:pPr algn="l">
              <a:spcAft>
                <a:spcPts val="900"/>
              </a:spcAft>
            </a:pPr>
            <a:r>
              <a:rPr sz="1600" b="0">
                <a:solidFill>
                  <a:srgbClr val="1F2933"/>
                </a:solidFill>
                <a:latin typeface="Calibri"/>
              </a:rPr>
              <a:t>•  Each opens to its evidence and source readouts</a:t>
            </a:r>
          </a:p>
          <a:p>
            <a:pPr algn="l">
              <a:spcAft>
                <a:spcPts val="900"/>
              </a:spcAft>
            </a:pPr>
            <a:r>
              <a:rPr sz="1600" b="0">
                <a:solidFill>
                  <a:srgbClr val="1F2933"/>
                </a:solidFill>
                <a:latin typeface="Calibri"/>
              </a:rPr>
              <a:t>•  Timeline merges standby cycles, FSI errors, platform states, DTCs and HIA restarts</a:t>
            </a:r>
          </a:p>
          <a:p>
            <a:pPr algn="l">
              <a:spcAft>
                <a:spcPts val="900"/>
              </a:spcAft>
            </a:pPr>
            <a:r>
              <a:rPr sz="1600" b="0">
                <a:solidFill>
                  <a:srgbClr val="1F2933"/>
                </a:solidFill>
                <a:latin typeface="Calibri"/>
              </a:rPr>
              <a:t>•  HIA and HIB reset logs (22 FE 04): common data, reset history, application context</a:t>
            </a:r>
          </a:p>
          <a:p>
            <a:pPr algn="l">
              <a:spcAft>
                <a:spcPts val="900"/>
              </a:spcAft>
            </a:pPr>
            <a:r>
              <a:rPr sz="1600" b="0">
                <a:solidFill>
                  <a:srgbClr val="1F2933"/>
                </a:solidFill>
                <a:latin typeface="Calibri"/>
              </a:rPr>
              <a:t>•  Application watchdog table with Essential and Restartable columns</a:t>
            </a:r>
          </a:p>
        </p:txBody>
      </p:sp>
      <p:sp>
        <p:nvSpPr>
          <p:cNvPr id="10" name="Rectangle 9"/>
          <p:cNvSpPr/>
          <p:nvPr/>
        </p:nvSpPr>
        <p:spPr>
          <a:xfrm>
            <a:off x="6263640" y="1371600"/>
            <a:ext cx="5486400" cy="475488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82296" cy="4754880"/>
          </a:xfrm>
          <a:prstGeom prst="rect">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44752"/>
            <a:ext cx="5212080" cy="460857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Recorded data (standby decoder)</a:t>
            </a:r>
          </a:p>
          <a:p>
            <a:pPr algn="l">
              <a:spcAft>
                <a:spcPts val="900"/>
              </a:spcAft>
            </a:pPr>
            <a:r>
              <a:rPr sz="1600" b="0">
                <a:solidFill>
                  <a:srgbClr val="1F2933"/>
                </a:solidFill>
                <a:latin typeface="Calibri"/>
              </a:rPr>
              <a:t>•  Standby events of HPA</a:t>
            </a:r>
          </a:p>
          <a:p>
            <a:pPr algn="l">
              <a:spcAft>
                <a:spcPts val="900"/>
              </a:spcAft>
            </a:pPr>
            <a:r>
              <a:rPr sz="1600" b="0">
                <a:solidFill>
                  <a:srgbClr val="1F2933"/>
                </a:solidFill>
                <a:latin typeface="Calibri"/>
              </a:rPr>
              <a:t>•  FE03 error slots and reference details</a:t>
            </a:r>
          </a:p>
          <a:p>
            <a:pPr algn="l">
              <a:spcAft>
                <a:spcPts val="900"/>
              </a:spcAft>
            </a:pPr>
            <a:r>
              <a:rPr sz="1600" b="0">
                <a:solidFill>
                  <a:srgbClr val="1F2933"/>
                </a:solidFill>
                <a:latin typeface="Calibri"/>
              </a:rPr>
              <a:t>•  Platform state transitions</a:t>
            </a:r>
          </a:p>
          <a:p>
            <a:pPr algn="l">
              <a:spcAft>
                <a:spcPts val="900"/>
              </a:spcAft>
            </a:pPr>
            <a:r>
              <a:rPr sz="1600" b="0">
                <a:solidFill>
                  <a:srgbClr val="1F2933"/>
                </a:solidFill>
                <a:latin typeface="Calibri"/>
              </a:rPr>
              <a:t>•  ECU DTC snapshots with UTC time</a:t>
            </a:r>
          </a:p>
          <a:p>
            <a:pPr algn="l">
              <a:spcAft>
                <a:spcPts val="900"/>
              </a:spcAft>
            </a:pPr>
            <a:r>
              <a:rPr sz="1600" b="0">
                <a:solidFill>
                  <a:srgbClr val="1F2933"/>
                </a:solidFill>
                <a:latin typeface="Calibri"/>
              </a:rPr>
              <a:t>•  Watchdog information</a:t>
            </a:r>
          </a:p>
          <a:p>
            <a:pPr algn="l">
              <a:spcAft>
                <a:spcPts val="900"/>
              </a:spcAft>
            </a:pPr>
            <a:r>
              <a:rPr sz="1600" b="0">
                <a:solidFill>
                  <a:srgbClr val="1F2933"/>
                </a:solidFill>
                <a:latin typeface="Calibri"/>
              </a:rPr>
              <a:t>All sections are collapsed and open on click.</a:t>
            </a:r>
          </a:p>
          <a:p>
            <a:pPr algn="l">
              <a:spcAft>
                <a:spcPts val="900"/>
              </a:spcAft>
            </a:pPr>
            <a:r>
              <a:rPr sz="1600" b="0">
                <a:solidFill>
                  <a:srgbClr val="1F2933"/>
                </a:solidFill>
                <a:latin typeface="Calibri"/>
              </a:rPr>
              <a:t>The whole summary downloads as one Markdown report: every finding with its tables, the timeline, all recorded tables and the raw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The platform model behind the findings</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6</a:t>
            </a:r>
          </a:p>
        </p:txBody>
      </p:sp>
      <p:sp>
        <p:nvSpPr>
          <p:cNvPr id="7" name="Rounded Rectangle 6"/>
          <p:cNvSpPr/>
          <p:nvPr/>
        </p:nvSpPr>
        <p:spPr>
          <a:xfrm>
            <a:off x="457200" y="1371600"/>
            <a:ext cx="3108960" cy="1554480"/>
          </a:xfrm>
          <a:prstGeom prst="roundRect">
            <a:avLst>
              <a:gd name="adj" fmla="val 12000"/>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HPA</a:t>
            </a:r>
          </a:p>
          <a:p>
            <a:pPr algn="ctr"/>
            <a:r>
              <a:rPr sz="1200" b="0">
                <a:solidFill>
                  <a:srgbClr val="FFFFFF"/>
                </a:solidFill>
                <a:latin typeface="Calibri"/>
              </a:rPr>
              <a:t>High Performance, QNX. Sleep or standby (SC7); essential applications</a:t>
            </a:r>
          </a:p>
        </p:txBody>
      </p:sp>
      <p:sp>
        <p:nvSpPr>
          <p:cNvPr id="8" name="Rounded Rectangle 7"/>
          <p:cNvSpPr/>
          <p:nvPr/>
        </p:nvSpPr>
        <p:spPr>
          <a:xfrm>
            <a:off x="5029200" y="1371600"/>
            <a:ext cx="3383280" cy="15544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HIA</a:t>
            </a:r>
          </a:p>
          <a:p>
            <a:pPr algn="ctr"/>
            <a:r>
              <a:rPr sz="1200" b="0">
                <a:solidFill>
                  <a:srgbClr val="FFFFFF"/>
                </a:solidFill>
                <a:latin typeface="Calibri"/>
              </a:rPr>
              <a:t>High Integrity A. Controls HPA, stores HPA reset reasons and standby failures</a:t>
            </a:r>
          </a:p>
        </p:txBody>
      </p:sp>
      <p:sp>
        <p:nvSpPr>
          <p:cNvPr id="9" name="Rounded Rectangle 8"/>
          <p:cNvSpPr/>
          <p:nvPr/>
        </p:nvSpPr>
        <p:spPr>
          <a:xfrm>
            <a:off x="9326880" y="1371600"/>
            <a:ext cx="2468880" cy="15544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HIB</a:t>
            </a:r>
          </a:p>
          <a:p>
            <a:pPr algn="ctr"/>
            <a:r>
              <a:rPr sz="1200" b="0">
                <a:solidFill>
                  <a:srgbClr val="FFFFFF"/>
                </a:solidFill>
                <a:latin typeface="Calibri"/>
              </a:rPr>
              <a:t>High Integrity B. Resets on its own, keeps a reset log</a:t>
            </a:r>
          </a:p>
        </p:txBody>
      </p:sp>
      <p:cxnSp>
        <p:nvCxnSpPr>
          <p:cNvPr id="10" name="Connector 9"/>
          <p:cNvCxnSpPr/>
          <p:nvPr/>
        </p:nvCxnSpPr>
        <p:spPr>
          <a:xfrm>
            <a:off x="3566160" y="1783080"/>
            <a:ext cx="146304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566160" y="1417320"/>
            <a:ext cx="1463040" cy="320040"/>
          </a:xfrm>
          <a:prstGeom prst="rect">
            <a:avLst/>
          </a:prstGeom>
          <a:noFill/>
        </p:spPr>
        <p:txBody>
          <a:bodyPr wrap="square" anchor="t" lIns="0" rIns="0" tIns="54864" bIns="54864">
            <a:spAutoFit/>
          </a:bodyPr>
          <a:lstStyle/>
          <a:p>
            <a:pPr algn="ctr"/>
            <a:r>
              <a:rPr sz="1200" b="1">
                <a:solidFill>
                  <a:srgbClr val="1F2933"/>
                </a:solidFill>
                <a:latin typeface="Calibri"/>
              </a:rPr>
              <a:t>FSI error</a:t>
            </a:r>
          </a:p>
        </p:txBody>
      </p:sp>
      <p:cxnSp>
        <p:nvCxnSpPr>
          <p:cNvPr id="12" name="Connector 11"/>
          <p:cNvCxnSpPr/>
          <p:nvPr/>
        </p:nvCxnSpPr>
        <p:spPr>
          <a:xfrm flipH="1">
            <a:off x="3566160" y="2514600"/>
            <a:ext cx="146304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66160" y="2560320"/>
            <a:ext cx="1463040" cy="320040"/>
          </a:xfrm>
          <a:prstGeom prst="rect">
            <a:avLst/>
          </a:prstGeom>
          <a:noFill/>
        </p:spPr>
        <p:txBody>
          <a:bodyPr wrap="square" anchor="t" lIns="0" rIns="0" tIns="54864" bIns="54864">
            <a:spAutoFit/>
          </a:bodyPr>
          <a:lstStyle/>
          <a:p>
            <a:pPr algn="ctr"/>
            <a:r>
              <a:rPr sz="1200" b="1">
                <a:solidFill>
                  <a:srgbClr val="1F2933"/>
                </a:solidFill>
                <a:latin typeface="Calibri"/>
              </a:rPr>
              <a:t>reset / cold boot</a:t>
            </a:r>
          </a:p>
        </p:txBody>
      </p:sp>
      <p:sp>
        <p:nvSpPr>
          <p:cNvPr id="14" name="Rounded Rectangle 13"/>
          <p:cNvSpPr/>
          <p:nvPr/>
        </p:nvSpPr>
        <p:spPr>
          <a:xfrm>
            <a:off x="5029200" y="3337560"/>
            <a:ext cx="3383280" cy="914400"/>
          </a:xfrm>
          <a:prstGeom prst="roundRect">
            <a:avLst>
              <a:gd name="adj" fmla="val 12000"/>
            </a:avLst>
          </a:prstGeom>
          <a:solidFill>
            <a:srgbClr val="6B77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LPA</a:t>
            </a:r>
          </a:p>
          <a:p>
            <a:pPr algn="ctr"/>
            <a:r>
              <a:rPr sz="1200" b="0">
                <a:solidFill>
                  <a:srgbClr val="FFFFFF"/>
                </a:solidFill>
                <a:latin typeface="Calibri"/>
              </a:rPr>
              <a:t>Standby history of SGA, HPA, HIA, HIB</a:t>
            </a:r>
          </a:p>
        </p:txBody>
      </p:sp>
      <p:sp>
        <p:nvSpPr>
          <p:cNvPr id="15" name="TextBox 14"/>
          <p:cNvSpPr txBox="1"/>
          <p:nvPr/>
        </p:nvSpPr>
        <p:spPr>
          <a:xfrm>
            <a:off x="548640" y="4526280"/>
            <a:ext cx="11155680" cy="1920240"/>
          </a:xfrm>
          <a:prstGeom prst="rect">
            <a:avLst/>
          </a:prstGeom>
          <a:noFill/>
        </p:spPr>
        <p:txBody>
          <a:bodyPr wrap="square" lIns="45720" rIns="45720">
            <a:spAutoFit/>
          </a:bodyPr>
          <a:lstStyle/>
          <a:p>
            <a:pPr marL="274320" indent="-256032">
              <a:spcAft>
                <a:spcPts val="500"/>
              </a:spcAft>
              <a:buChar char="•"/>
            </a:pPr>
            <a:r>
              <a:rPr b="1" sz="1500">
                <a:solidFill>
                  <a:srgbClr val="0B2545"/>
                </a:solidFill>
                <a:latin typeface="Calibri"/>
              </a:rPr>
              <a:t>Standby fails</a:t>
            </a:r>
            <a:r>
              <a:rPr sz="1500">
                <a:solidFill>
                  <a:srgbClr val="1F2933"/>
                </a:solidFill>
                <a:latin typeface="Calibri"/>
              </a:rPr>
              <a:t>  reasons are stored in HIA and HPA cold boots instead of resuming</a:t>
            </a:r>
          </a:p>
          <a:p>
            <a:pPr marL="274320" indent="-256032">
              <a:spcAft>
                <a:spcPts val="500"/>
              </a:spcAft>
              <a:buChar char="•"/>
            </a:pPr>
            <a:r>
              <a:rPr b="1" sz="1500">
                <a:solidFill>
                  <a:srgbClr val="0B2545"/>
                </a:solidFill>
                <a:latin typeface="Calibri"/>
              </a:rPr>
              <a:t>Essential application over its restart limit</a:t>
            </a:r>
            <a:r>
              <a:rPr sz="1500">
                <a:solidFill>
                  <a:srgbClr val="1F2933"/>
                </a:solidFill>
                <a:latin typeface="Calibri"/>
              </a:rPr>
              <a:t>  HIA resets HPA</a:t>
            </a:r>
          </a:p>
          <a:p>
            <a:pPr marL="274320" indent="-256032">
              <a:spcAft>
                <a:spcPts val="500"/>
              </a:spcAft>
              <a:buChar char="•"/>
            </a:pPr>
            <a:r>
              <a:rPr b="1" sz="1500">
                <a:solidFill>
                  <a:srgbClr val="0B2545"/>
                </a:solidFill>
                <a:latin typeface="Calibri"/>
              </a:rPr>
              <a:t>A failure or reset of HIA</a:t>
            </a:r>
            <a:r>
              <a:rPr sz="1500">
                <a:solidFill>
                  <a:srgbClr val="1F2933"/>
                </a:solidFill>
                <a:latin typeface="Calibri"/>
              </a:rPr>
              <a:t>  can restart HPA</a:t>
            </a:r>
          </a:p>
          <a:p>
            <a:pPr marL="274320" indent="-256032">
              <a:spcAft>
                <a:spcPts val="500"/>
              </a:spcAft>
              <a:buChar char="•"/>
            </a:pPr>
            <a:r>
              <a:rPr b="1" sz="1500">
                <a:solidFill>
                  <a:srgbClr val="0B2545"/>
                </a:solidFill>
                <a:latin typeface="Calibri"/>
              </a:rPr>
              <a:t>An HPA standby failure does not show in LPA</a:t>
            </a:r>
            <a:r>
              <a:rPr sz="1500">
                <a:solidFill>
                  <a:srgbClr val="1F2933"/>
                </a:solidFill>
                <a:latin typeface="Calibri"/>
              </a:rPr>
              <a:t>  HIA powers off anyway, so LPA counts matter for the other nodes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Example: what one real readout told us</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7</a:t>
            </a:r>
          </a:p>
        </p:txBody>
      </p:sp>
      <p:sp>
        <p:nvSpPr>
          <p:cNvPr id="7" name="TextBox 6"/>
          <p:cNvSpPr txBox="1"/>
          <p:nvPr/>
        </p:nvSpPr>
        <p:spPr>
          <a:xfrm>
            <a:off x="548640" y="1463040"/>
            <a:ext cx="11064240" cy="4114800"/>
          </a:xfrm>
          <a:prstGeom prst="rect">
            <a:avLst/>
          </a:prstGeom>
          <a:noFill/>
        </p:spPr>
        <p:txBody>
          <a:bodyPr wrap="square" lIns="45720" rIns="45720">
            <a:spAutoFit/>
          </a:bodyPr>
          <a:lstStyle/>
          <a:p>
            <a:pPr marL="274320" indent="-256032">
              <a:spcAft>
                <a:spcPts val="1400"/>
              </a:spcAft>
              <a:buChar char="•"/>
            </a:pPr>
            <a:r>
              <a:rPr b="1" sz="2000">
                <a:solidFill>
                  <a:srgbClr val="0B2545"/>
                </a:solidFill>
                <a:latin typeface="Calibri"/>
              </a:rPr>
              <a:t>HIA restarted HP</a:t>
            </a:r>
            <a:r>
              <a:rPr sz="2000">
                <a:solidFill>
                  <a:srgbClr val="1F2933"/>
                </a:solidFill>
                <a:latin typeface="Calibri"/>
              </a:rPr>
              <a:t>  on 2026-10-07: cold boot, with thermal and power reasons recorded</a:t>
            </a:r>
          </a:p>
          <a:p>
            <a:pPr marL="274320" indent="-256032">
              <a:spcAft>
                <a:spcPts val="1400"/>
              </a:spcAft>
              <a:buChar char="•"/>
            </a:pPr>
            <a:r>
              <a:rPr b="1" sz="2000">
                <a:solidFill>
                  <a:srgbClr val="0B2545"/>
                </a:solidFill>
                <a:latin typeface="Calibri"/>
              </a:rPr>
              <a:t>HPA standby failures</a:t>
            </a:r>
            <a:r>
              <a:rPr sz="2000">
                <a:solidFill>
                  <a:srgbClr val="1F2933"/>
                </a:solidFill>
                <a:latin typeface="Calibri"/>
              </a:rPr>
              <a:t>  3 counted by HIA (LPA shows none, as the model predicts)</a:t>
            </a:r>
          </a:p>
          <a:p>
            <a:pPr marL="274320" indent="-256032">
              <a:spcAft>
                <a:spcPts val="1400"/>
              </a:spcAft>
              <a:buChar char="•"/>
            </a:pPr>
            <a:r>
              <a:rPr b="1" sz="2000">
                <a:solidFill>
                  <a:srgbClr val="0B2545"/>
                </a:solidFill>
                <a:latin typeface="Calibri"/>
              </a:rPr>
              <a:t>FSI errors</a:t>
            </a:r>
            <a:r>
              <a:rPr sz="2000">
                <a:solidFill>
                  <a:srgbClr val="1F2933"/>
                </a:solidFill>
                <a:latin typeface="Calibri"/>
              </a:rPr>
              <a:t>  19 error slots recorded and classified by origin</a:t>
            </a:r>
          </a:p>
          <a:p>
            <a:pPr marL="274320" indent="-256032">
              <a:spcAft>
                <a:spcPts val="1400"/>
              </a:spcAft>
              <a:buChar char="•"/>
            </a:pPr>
            <a:r>
              <a:rPr b="1" sz="2000">
                <a:solidFill>
                  <a:srgbClr val="0B2545"/>
                </a:solidFill>
                <a:latin typeface="Calibri"/>
              </a:rPr>
              <a:t>Application watchdog</a:t>
            </a:r>
            <a:r>
              <a:rPr sz="2000">
                <a:solidFill>
                  <a:srgbClr val="1F2933"/>
                </a:solidFill>
                <a:latin typeface="Calibri"/>
              </a:rPr>
              <a:t>  150 non-essential application failures, none essential abandoned</a:t>
            </a:r>
          </a:p>
          <a:p>
            <a:pPr marL="274320" indent="-256032">
              <a:spcAft>
                <a:spcPts val="1400"/>
              </a:spcAft>
              <a:buChar char="•"/>
            </a:pPr>
            <a:r>
              <a:rPr b="1" sz="2000">
                <a:solidFill>
                  <a:srgbClr val="0B2545"/>
                </a:solidFill>
                <a:latin typeface="Calibri"/>
              </a:rPr>
              <a:t>HIB reset log</a:t>
            </a:r>
            <a:r>
              <a:rPr sz="2000">
                <a:solidFill>
                  <a:srgbClr val="1F2933"/>
                </a:solidFill>
                <a:latin typeface="Calibri"/>
              </a:rPr>
              <a:t>  last reset ERROR_HOOK, exceptional, reset counter 6, with a stack trace</a:t>
            </a:r>
          </a:p>
          <a:p>
            <a:pPr marL="274320" indent="-256032">
              <a:spcAft>
                <a:spcPts val="1400"/>
              </a:spcAft>
              <a:buChar char="•"/>
            </a:pPr>
            <a:r>
              <a:rPr b="1" sz="2000">
                <a:solidFill>
                  <a:srgbClr val="0B2545"/>
                </a:solidFill>
                <a:latin typeface="Calibri"/>
              </a:rPr>
              <a:t>LPA</a:t>
            </a:r>
            <a:r>
              <a:rPr sz="2000">
                <a:solidFill>
                  <a:srgbClr val="1F2933"/>
                </a:solidFill>
                <a:latin typeface="Calibri"/>
              </a:rPr>
              <a:t>  clean history for the other nodes</a:t>
            </a:r>
          </a:p>
        </p:txBody>
      </p:sp>
      <p:sp>
        <p:nvSpPr>
          <p:cNvPr id="8" name="TextBox 7"/>
          <p:cNvSpPr txBox="1"/>
          <p:nvPr/>
        </p:nvSpPr>
        <p:spPr>
          <a:xfrm>
            <a:off x="548640" y="5852160"/>
            <a:ext cx="11064240" cy="320040"/>
          </a:xfrm>
          <a:prstGeom prst="rect">
            <a:avLst/>
          </a:prstGeom>
          <a:noFill/>
        </p:spPr>
        <p:txBody>
          <a:bodyPr wrap="square" anchor="t" lIns="0" rIns="0" tIns="54864" bIns="54864">
            <a:spAutoFit/>
          </a:bodyPr>
          <a:lstStyle/>
          <a:p>
            <a:pPr algn="l"/>
            <a:r>
              <a:rPr sz="1400" b="0">
                <a:solidFill>
                  <a:srgbClr val="6B7785"/>
                </a:solidFill>
                <a:latin typeface="Calibri"/>
              </a:rPr>
              <a:t>Each finding lists its source readouts, for example HIA 22 FE 14, so you can check it in tab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Tab 3: SW versions</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8</a:t>
            </a:r>
          </a:p>
        </p:txBody>
      </p:sp>
      <p:sp>
        <p:nvSpPr>
          <p:cNvPr id="7" name="Rectangle 6"/>
          <p:cNvSpPr/>
          <p:nvPr/>
        </p:nvSpPr>
        <p:spPr>
          <a:xfrm>
            <a:off x="457200" y="1371600"/>
            <a:ext cx="5486400" cy="484632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82296" cy="4846320"/>
          </a:xfrm>
          <a:prstGeom prst="rect">
            <a:avLst/>
          </a:prstGeom>
          <a:solidFill>
            <a:srgbClr val="E89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44752"/>
            <a:ext cx="5212080" cy="470001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Part numbers</a:t>
            </a:r>
          </a:p>
          <a:p>
            <a:pPr algn="l">
              <a:spcAft>
                <a:spcPts val="900"/>
              </a:spcAft>
            </a:pPr>
            <a:r>
              <a:rPr sz="1600" b="0">
                <a:solidFill>
                  <a:srgbClr val="1F2933"/>
                </a:solidFill>
                <a:latin typeface="Calibri"/>
              </a:rPr>
              <a:t>•  HIA, HIB, HPA, SGA, VESA, VESB</a:t>
            </a:r>
          </a:p>
          <a:p>
            <a:pPr algn="l">
              <a:spcAft>
                <a:spcPts val="900"/>
              </a:spcAft>
            </a:pPr>
            <a:r>
              <a:rPr sz="1600" b="0">
                <a:solidFill>
                  <a:srgbClr val="1F2933"/>
                </a:solidFill>
                <a:latin typeface="Calibri"/>
              </a:rPr>
              <a:t>•  Software modules with part number and edition, for example 32489651 ACP</a:t>
            </a:r>
          </a:p>
          <a:p>
            <a:pPr algn="l">
              <a:spcAft>
                <a:spcPts val="900"/>
              </a:spcAft>
            </a:pPr>
            <a:r>
              <a:rPr sz="1600" b="0">
                <a:solidFill>
                  <a:srgbClr val="1F2933"/>
                </a:solidFill>
                <a:latin typeface="Calibri"/>
              </a:rPr>
              <a:t>•  Diagnostic database, calibration, fingerprint</a:t>
            </a:r>
          </a:p>
          <a:p>
            <a:pPr algn="l">
              <a:spcAft>
                <a:spcPts val="900"/>
              </a:spcAft>
            </a:pPr>
            <a:r>
              <a:rPr sz="1600" b="0">
                <a:solidFill>
                  <a:srgbClr val="1F2933"/>
                </a:solidFill>
                <a:latin typeface="Calibri"/>
              </a:rPr>
              <a:t>•  Core, delivery and serial numbers shown once when all ECUs agree</a:t>
            </a:r>
          </a:p>
        </p:txBody>
      </p:sp>
      <p:sp>
        <p:nvSpPr>
          <p:cNvPr id="10" name="Rectangle 9"/>
          <p:cNvSpPr/>
          <p:nvPr/>
        </p:nvSpPr>
        <p:spPr>
          <a:xfrm>
            <a:off x="6263640" y="1371600"/>
            <a:ext cx="5486400" cy="484632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82296" cy="4846320"/>
          </a:xfrm>
          <a:prstGeom prst="rect">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44752"/>
            <a:ext cx="5212080" cy="470001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MAIN_INT baselines (ConfigHub)</a:t>
            </a:r>
          </a:p>
          <a:p>
            <a:pPr algn="l">
              <a:spcAft>
                <a:spcPts val="900"/>
              </a:spcAft>
            </a:pPr>
            <a:r>
              <a:rPr sz="1500" b="0">
                <a:solidFill>
                  <a:srgbClr val="1F2933"/>
                </a:solidFill>
                <a:latin typeface="Calibri"/>
              </a:rPr>
              <a:t>•  One matching call per ECU, in parallel: about 6 to 11 s</a:t>
            </a:r>
          </a:p>
          <a:p>
            <a:pPr algn="l">
              <a:spcAft>
                <a:spcPts val="900"/>
              </a:spcAft>
            </a:pPr>
            <a:r>
              <a:rPr sz="1500" b="0">
                <a:solidFill>
                  <a:srgbClr val="1F2933"/>
                </a:solidFill>
                <a:latin typeface="Calibri"/>
              </a:rPr>
              <a:t>•  HPA is two ConfigHub positions: HPA and HPAA</a:t>
            </a:r>
          </a:p>
          <a:p>
            <a:pPr algn="l">
              <a:spcAft>
                <a:spcPts val="900"/>
              </a:spcAft>
            </a:pPr>
            <a:r>
              <a:rPr sz="1500" b="0">
                <a:solidFill>
                  <a:srgbClr val="1F2933"/>
                </a:solidFill>
                <a:latin typeface="Calibri"/>
              </a:rPr>
              <a:t>•  Links to each baseline in ConfigHub</a:t>
            </a:r>
          </a:p>
          <a:p>
            <a:pPr algn="l">
              <a:spcAft>
                <a:spcPts val="900"/>
              </a:spcAft>
            </a:pPr>
            <a:r>
              <a:rPr sz="1500" b="0">
                <a:solidFill>
                  <a:srgbClr val="1F2933"/>
                </a:solidFill>
                <a:latin typeface="Calibri"/>
              </a:rPr>
              <a:t>•  Download column: each part's .vbf; your browser signs in to Artifactory</a:t>
            </a:r>
          </a:p>
          <a:p>
            <a:pPr algn="l">
              <a:spcAft>
                <a:spcPts val="900"/>
              </a:spcAft>
            </a:pPr>
            <a:r>
              <a:rPr sz="1500" b="0">
                <a:solidFill>
                  <a:srgbClr val="1F2933"/>
                </a:solidFill>
                <a:latin typeface="Calibri"/>
              </a:rPr>
              <a:t>•  Certificates and 00000000 placeholders are ignored</a:t>
            </a:r>
          </a:p>
          <a:p>
            <a:pPr algn="l">
              <a:spcAft>
                <a:spcPts val="900"/>
              </a:spcAft>
            </a:pPr>
            <a:r>
              <a:rPr sz="1500" b="0">
                <a:solidFill>
                  <a:srgbClr val="1F2933"/>
                </a:solidFill>
                <a:latin typeface="Calibri"/>
              </a:rPr>
              <a:t>•  ConfigHub returns its best three matches, so only the newest versions show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Where things live</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9</a:t>
            </a:r>
          </a:p>
        </p:txBody>
      </p:sp>
      <p:sp>
        <p:nvSpPr>
          <p:cNvPr id="7" name="Rectangle 6"/>
          <p:cNvSpPr/>
          <p:nvPr/>
        </p:nvSpPr>
        <p:spPr>
          <a:xfrm>
            <a:off x="457200" y="123444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34440"/>
            <a:ext cx="82296" cy="850392"/>
          </a:xfrm>
          <a:prstGeom prst="rect">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7101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decoder/decoder.py</a:t>
            </a:r>
          </a:p>
          <a:p>
            <a:pPr algn="l"/>
            <a:r>
              <a:rPr sz="1300" b="0">
                <a:solidFill>
                  <a:srgbClr val="1F2933"/>
                </a:solidFill>
                <a:latin typeface="Calibri"/>
              </a:rPr>
              <a:t>Streamlit UI: tabs, ECU tree, tables, buttons</a:t>
            </a:r>
          </a:p>
        </p:txBody>
      </p:sp>
      <p:sp>
        <p:nvSpPr>
          <p:cNvPr id="10" name="Rectangle 9"/>
          <p:cNvSpPr/>
          <p:nvPr/>
        </p:nvSpPr>
        <p:spPr>
          <a:xfrm>
            <a:off x="6126480" y="123444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234440"/>
            <a:ext cx="82296" cy="850392"/>
          </a:xfrm>
          <a:prstGeom prst="rect">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27101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decoder/streamlit_workflow.py</a:t>
            </a:r>
          </a:p>
          <a:p>
            <a:pPr algn="l"/>
            <a:r>
              <a:rPr sz="1300" b="0">
                <a:solidFill>
                  <a:srgbClr val="1F2933"/>
                </a:solidFill>
                <a:latin typeface="Calibri"/>
              </a:rPr>
              <a:t>Readout discovery on the share, SDDB index, translation cache, summary parser</a:t>
            </a:r>
          </a:p>
        </p:txBody>
      </p:sp>
      <p:sp>
        <p:nvSpPr>
          <p:cNvPr id="13" name="Rectangle 12"/>
          <p:cNvSpPr/>
          <p:nvPr/>
        </p:nvSpPr>
        <p:spPr>
          <a:xfrm>
            <a:off x="457200" y="219456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94560"/>
            <a:ext cx="82296" cy="850392"/>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3113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decoder/interpretation.py</a:t>
            </a:r>
          </a:p>
          <a:p>
            <a:pPr algn="l"/>
            <a:r>
              <a:rPr sz="1300" b="0">
                <a:solidFill>
                  <a:srgbClr val="1F2933"/>
                </a:solidFill>
                <a:latin typeface="Calibri"/>
              </a:rPr>
              <a:t>Rules, severities, timeline</a:t>
            </a:r>
          </a:p>
        </p:txBody>
      </p:sp>
      <p:sp>
        <p:nvSpPr>
          <p:cNvPr id="16" name="Rectangle 15"/>
          <p:cNvSpPr/>
          <p:nvPr/>
        </p:nvSpPr>
        <p:spPr>
          <a:xfrm>
            <a:off x="6126480" y="219456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194560"/>
            <a:ext cx="82296" cy="850392"/>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23113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decoder/reset_log.py</a:t>
            </a:r>
          </a:p>
          <a:p>
            <a:pPr algn="l"/>
            <a:r>
              <a:rPr sz="1300" b="0">
                <a:solidFill>
                  <a:srgbClr val="1F2933"/>
                </a:solidFill>
                <a:latin typeface="Calibri"/>
              </a:rPr>
              <a:t>HIA and HIB reset log decoder (port of the Excel macro)</a:t>
            </a:r>
          </a:p>
        </p:txBody>
      </p:sp>
      <p:sp>
        <p:nvSpPr>
          <p:cNvPr id="19" name="Rectangle 18"/>
          <p:cNvSpPr/>
          <p:nvPr/>
        </p:nvSpPr>
        <p:spPr>
          <a:xfrm>
            <a:off x="457200" y="315468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54680"/>
            <a:ext cx="82296" cy="850392"/>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19125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decoder/summary_report.py</a:t>
            </a:r>
          </a:p>
          <a:p>
            <a:pPr algn="l"/>
            <a:r>
              <a:rPr sz="1300" b="0">
                <a:solidFill>
                  <a:srgbClr val="1F2933"/>
                </a:solidFill>
                <a:latin typeface="Calibri"/>
              </a:rPr>
              <a:t>Markdown report of the Readout summary tab</a:t>
            </a:r>
          </a:p>
        </p:txBody>
      </p:sp>
      <p:sp>
        <p:nvSpPr>
          <p:cNvPr id="22" name="Rectangle 21"/>
          <p:cNvSpPr/>
          <p:nvPr/>
        </p:nvSpPr>
        <p:spPr>
          <a:xfrm>
            <a:off x="6126480" y="315468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3154680"/>
            <a:ext cx="82296" cy="850392"/>
          </a:xfrm>
          <a:prstGeom prst="rect">
            <a:avLst/>
          </a:prstGeom>
          <a:solidFill>
            <a:srgbClr val="E89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19125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decoder/sw_versions.py</a:t>
            </a:r>
          </a:p>
          <a:p>
            <a:pPr algn="l"/>
            <a:r>
              <a:rPr sz="1300" b="0">
                <a:solidFill>
                  <a:srgbClr val="1F2933"/>
                </a:solidFill>
                <a:latin typeface="Calibri"/>
              </a:rPr>
              <a:t>Part numbers from the identification DIDs</a:t>
            </a:r>
          </a:p>
        </p:txBody>
      </p:sp>
      <p:sp>
        <p:nvSpPr>
          <p:cNvPr id="25" name="Rectangle 24"/>
          <p:cNvSpPr/>
          <p:nvPr/>
        </p:nvSpPr>
        <p:spPr>
          <a:xfrm>
            <a:off x="457200" y="411480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114800"/>
            <a:ext cx="82296" cy="850392"/>
          </a:xfrm>
          <a:prstGeom prst="rect">
            <a:avLst/>
          </a:prstGeom>
          <a:solidFill>
            <a:srgbClr val="E89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15137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decoder/baselines.py</a:t>
            </a:r>
          </a:p>
          <a:p>
            <a:pPr algn="l"/>
            <a:r>
              <a:rPr sz="1300" b="0">
                <a:solidFill>
                  <a:srgbClr val="1F2933"/>
                </a:solidFill>
                <a:latin typeface="Calibri"/>
              </a:rPr>
              <a:t>ConfigHub baseline matching and links (uses confighub_lookup.py)</a:t>
            </a:r>
          </a:p>
        </p:txBody>
      </p:sp>
      <p:sp>
        <p:nvSpPr>
          <p:cNvPr id="28" name="Rectangle 27"/>
          <p:cNvSpPr/>
          <p:nvPr/>
        </p:nvSpPr>
        <p:spPr>
          <a:xfrm>
            <a:off x="6126480" y="4114800"/>
            <a:ext cx="5486400" cy="850392"/>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0" y="4114800"/>
            <a:ext cx="82296" cy="850392"/>
          </a:xfrm>
          <a:prstGeom prst="rect">
            <a:avLst/>
          </a:prstGeom>
          <a:solidFill>
            <a:srgbClr val="6B77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151376"/>
            <a:ext cx="5212080" cy="777240"/>
          </a:xfrm>
          <a:prstGeom prst="rect">
            <a:avLst/>
          </a:prstGeom>
          <a:noFill/>
        </p:spPr>
        <p:txBody>
          <a:bodyPr wrap="square" anchor="t" lIns="18288" rIns="18288" tIns="54864" bIns="54864">
            <a:spAutoFit/>
          </a:bodyPr>
          <a:lstStyle/>
          <a:p>
            <a:pPr algn="l"/>
            <a:r>
              <a:rPr sz="1600" b="1">
                <a:solidFill>
                  <a:srgbClr val="0B2545"/>
                </a:solidFill>
                <a:latin typeface="Calibri"/>
              </a:rPr>
              <a:t>decoder/test_decoder.py</a:t>
            </a:r>
          </a:p>
          <a:p>
            <a:pPr algn="l"/>
            <a:r>
              <a:rPr sz="1300" b="0">
                <a:solidFill>
                  <a:srgbClr val="1F2933"/>
                </a:solidFill>
                <a:latin typeface="Calibri"/>
              </a:rPr>
              <a:t>Unit tests for the decoder app</a:t>
            </a:r>
          </a:p>
        </p:txBody>
      </p:sp>
      <p:sp>
        <p:nvSpPr>
          <p:cNvPr id="31" name="TextBox 30"/>
          <p:cNvSpPr txBox="1"/>
          <p:nvPr/>
        </p:nvSpPr>
        <p:spPr>
          <a:xfrm>
            <a:off x="457200" y="5212080"/>
            <a:ext cx="11247120" cy="1188720"/>
          </a:xfrm>
          <a:prstGeom prst="rect">
            <a:avLst/>
          </a:prstGeom>
          <a:noFill/>
        </p:spPr>
        <p:txBody>
          <a:bodyPr wrap="square" lIns="45720" rIns="45720">
            <a:spAutoFit/>
          </a:bodyPr>
          <a:lstStyle/>
          <a:p>
            <a:pPr marL="274320" indent="-256032">
              <a:spcAft>
                <a:spcPts val="600"/>
              </a:spcAft>
              <a:buChar char="•"/>
            </a:pPr>
            <a:r>
              <a:rPr b="1" sz="1500">
                <a:solidFill>
                  <a:srgbClr val="0B2545"/>
                </a:solidFill>
                <a:latin typeface="Calibri"/>
              </a:rPr>
              <a:t>Submodules</a:t>
            </a:r>
            <a:r>
              <a:rPr sz="1500">
                <a:solidFill>
                  <a:srgbClr val="1F2933"/>
                </a:solidFill>
                <a:latin typeface="Calibri"/>
              </a:rPr>
              <a:t>  SAT_Readout_decoder (translates readouts with an SDDB) and standby-decoder (summary tables)</a:t>
            </a:r>
          </a:p>
          <a:p>
            <a:pPr marL="274320" indent="-256032">
              <a:spcAft>
                <a:spcPts val="600"/>
              </a:spcAft>
              <a:buChar char="•"/>
            </a:pPr>
            <a:r>
              <a:rPr b="1" sz="1500">
                <a:solidFill>
                  <a:srgbClr val="0B2545"/>
                </a:solidFill>
                <a:latin typeface="Calibri"/>
              </a:rPr>
              <a:t>Skill</a:t>
            </a:r>
            <a:r>
              <a:rPr sz="1500">
                <a:solidFill>
                  <a:srgbClr val="1F2933"/>
                </a:solidFill>
                <a:latin typeface="Calibri"/>
              </a:rPr>
              <a:t>  .github/skills/decoder-summary-interpretation holds the platform model, the DID map and the rule catalog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Run it</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10</a:t>
            </a:r>
          </a:p>
        </p:txBody>
      </p:sp>
      <p:sp>
        <p:nvSpPr>
          <p:cNvPr id="7" name="TextBox 6"/>
          <p:cNvSpPr txBox="1"/>
          <p:nvPr/>
        </p:nvSpPr>
        <p:spPr>
          <a:xfrm>
            <a:off x="457200" y="1463040"/>
            <a:ext cx="5669280" cy="4572000"/>
          </a:xfrm>
          <a:prstGeom prst="rect">
            <a:avLst/>
          </a:prstGeom>
          <a:noFill/>
        </p:spPr>
        <p:txBody>
          <a:bodyPr wrap="square" lIns="45720" rIns="45720">
            <a:spAutoFit/>
          </a:bodyPr>
          <a:lstStyle/>
          <a:p>
            <a:pPr marL="274320" indent="-256032">
              <a:spcAft>
                <a:spcPts val="1400"/>
              </a:spcAft>
              <a:buChar char="•"/>
            </a:pPr>
            <a:r>
              <a:rPr b="1" sz="1800">
                <a:solidFill>
                  <a:srgbClr val="0B2545"/>
                </a:solidFill>
                <a:latin typeface="Calibri"/>
              </a:rPr>
              <a:t>VPN</a:t>
            </a:r>
            <a:r>
              <a:rPr sz="1800">
                <a:solidFill>
                  <a:srgbClr val="1F2933"/>
                </a:solidFill>
                <a:latin typeface="Calibri"/>
              </a:rPr>
              <a:t>  the readout share and ConfigHub</a:t>
            </a:r>
          </a:p>
          <a:p>
            <a:pPr marL="274320" indent="-256032">
              <a:spcAft>
                <a:spcPts val="1400"/>
              </a:spcAft>
              <a:buChar char="•"/>
            </a:pPr>
            <a:r>
              <a:rPr b="1" sz="1800">
                <a:solidFill>
                  <a:srgbClr val="0B2545"/>
                </a:solidFill>
                <a:latin typeface="Calibri"/>
              </a:rPr>
              <a:t>SDDB file</a:t>
            </a:r>
            <a:r>
              <a:rPr sz="1800">
                <a:solidFill>
                  <a:srgbClr val="1F2933"/>
                </a:solidFill>
                <a:latin typeface="Calibri"/>
              </a:rPr>
              <a:t>  put it in ~/Downloads/sddb, or set SAT_SDDB_DIR</a:t>
            </a:r>
          </a:p>
          <a:p>
            <a:pPr marL="274320" indent="-256032">
              <a:spcAft>
                <a:spcPts val="1400"/>
              </a:spcAft>
              <a:buChar char="•"/>
            </a:pPr>
            <a:r>
              <a:rPr b="1" sz="1800">
                <a:solidFill>
                  <a:srgbClr val="0B2545"/>
                </a:solidFill>
                <a:latin typeface="Calibri"/>
              </a:rPr>
              <a:t>ConfigHub login</a:t>
            </a:r>
            <a:r>
              <a:rPr sz="1800">
                <a:solidFill>
                  <a:srgbClr val="1F2933"/>
                </a:solidFill>
                <a:latin typeface="Calibri"/>
              </a:rPr>
              <a:t>  saved in the OS keychain by confighub_lookup.py, or typed into the app</a:t>
            </a:r>
          </a:p>
          <a:p>
            <a:pPr marL="274320" indent="-256032">
              <a:spcAft>
                <a:spcPts val="1400"/>
              </a:spcAft>
              <a:buChar char="•"/>
            </a:pPr>
            <a:r>
              <a:rPr b="1" sz="1800">
                <a:solidFill>
                  <a:srgbClr val="0B2545"/>
                </a:solidFill>
                <a:latin typeface="Calibri"/>
              </a:rPr>
              <a:t>Share login</a:t>
            </a:r>
            <a:r>
              <a:rPr sz="1800">
                <a:solidFill>
                  <a:srgbClr val="1F2933"/>
                </a:solidFill>
                <a:latin typeface="Calibri"/>
              </a:rPr>
              <a:t>  optional; saved in the keychain from the app</a:t>
            </a:r>
          </a:p>
        </p:txBody>
      </p:sp>
      <p:sp>
        <p:nvSpPr>
          <p:cNvPr id="8" name="Rectangle 7"/>
          <p:cNvSpPr/>
          <p:nvPr/>
        </p:nvSpPr>
        <p:spPr>
          <a:xfrm>
            <a:off x="6400800" y="1554480"/>
            <a:ext cx="5303520" cy="30175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a:lstStyle/>
          <a:p>
            <a:pPr algn="l"/>
            <a:r>
              <a:rPr sz="1500">
                <a:solidFill>
                  <a:srgbClr val="E2E8F0"/>
                </a:solidFill>
                <a:latin typeface="Consolas"/>
              </a:rPr>
              <a:t>git clone git@github.com:vkumar-vcc/</a:t>
            </a:r>
          </a:p>
          <a:p>
            <a:pPr algn="l"/>
            <a:r>
              <a:rPr sz="1500">
                <a:solidFill>
                  <a:srgbClr val="E2E8F0"/>
                </a:solidFill>
                <a:latin typeface="Consolas"/>
              </a:rPr>
              <a:t>      FaultTracing-Scripts.git</a:t>
            </a:r>
          </a:p>
          <a:p>
            <a:pPr algn="l"/>
            <a:r>
              <a:rPr sz="1500">
                <a:solidFill>
                  <a:srgbClr val="E2E8F0"/>
                </a:solidFill>
                <a:latin typeface="Consolas"/>
              </a:rPr>
              <a:t>cd FaultTracing-Scripts</a:t>
            </a:r>
          </a:p>
          <a:p>
            <a:pPr algn="l"/>
            <a:r>
              <a:rPr sz="1500">
                <a:solidFill>
                  <a:srgbClr val="E2E8F0"/>
                </a:solidFill>
                <a:latin typeface="Consolas"/>
              </a:rPr>
              <a:t>.\setup_uv.ps1</a:t>
            </a:r>
          </a:p>
          <a:p>
            <a:pPr algn="l"/>
            <a:r>
              <a:rPr sz="1500">
                <a:solidFill>
                  <a:srgbClr val="E2E8F0"/>
                </a:solidFill>
                <a:latin typeface="Consolas"/>
              </a:rPr>
              <a:t>.\.venv\Scripts\Activate.ps1</a:t>
            </a:r>
          </a:p>
          <a:p>
            <a:pPr algn="l"/>
            <a:r>
              <a:rPr sz="1500">
                <a:solidFill>
                  <a:srgbClr val="E2E8F0"/>
                </a:solidFill>
                <a:latin typeface="Consolas"/>
              </a:rPr>
              <a:t> </a:t>
            </a:r>
          </a:p>
          <a:p>
            <a:pPr algn="l"/>
            <a:r>
              <a:rPr sz="1500">
                <a:solidFill>
                  <a:srgbClr val="E2E8F0"/>
                </a:solidFill>
                <a:latin typeface="Consolas"/>
              </a:rPr>
              <a:t>uv run streamlit run decoder\decoder.py</a:t>
            </a:r>
          </a:p>
        </p:txBody>
      </p:sp>
      <p:sp>
        <p:nvSpPr>
          <p:cNvPr id="9" name="TextBox 8"/>
          <p:cNvSpPr txBox="1"/>
          <p:nvPr/>
        </p:nvSpPr>
        <p:spPr>
          <a:xfrm>
            <a:off x="6400800" y="4754880"/>
            <a:ext cx="5303520" cy="320040"/>
          </a:xfrm>
          <a:prstGeom prst="rect">
            <a:avLst/>
          </a:prstGeom>
          <a:noFill/>
        </p:spPr>
        <p:txBody>
          <a:bodyPr wrap="square" anchor="t" lIns="0" rIns="0" tIns="54864" bIns="54864">
            <a:spAutoFit/>
          </a:bodyPr>
          <a:lstStyle/>
          <a:p>
            <a:pPr algn="l"/>
            <a:r>
              <a:rPr sz="1400" b="0">
                <a:solidFill>
                  <a:srgbClr val="6B7785"/>
                </a:solidFill>
                <a:latin typeface="Calibri"/>
              </a:rPr>
              <a:t>Then: enter a VIN, Load readouts, choose the SDDB, Translate.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Add a feature 1: a new interpretation rule</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11</a:t>
            </a:r>
          </a:p>
        </p:txBody>
      </p:sp>
      <p:sp>
        <p:nvSpPr>
          <p:cNvPr id="7" name="TextBox 6"/>
          <p:cNvSpPr txBox="1"/>
          <p:nvPr/>
        </p:nvSpPr>
        <p:spPr>
          <a:xfrm>
            <a:off x="457200" y="1371600"/>
            <a:ext cx="5577840" cy="4937760"/>
          </a:xfrm>
          <a:prstGeom prst="rect">
            <a:avLst/>
          </a:prstGeom>
          <a:noFill/>
        </p:spPr>
        <p:txBody>
          <a:bodyPr wrap="square" lIns="45720" rIns="45720">
            <a:spAutoFit/>
          </a:bodyPr>
          <a:lstStyle/>
          <a:p>
            <a:pPr marL="274320" indent="-256032">
              <a:spcAft>
                <a:spcPts val="1000"/>
              </a:spcAft>
              <a:buChar char="•"/>
            </a:pPr>
            <a:r>
              <a:rPr b="1" sz="1600">
                <a:solidFill>
                  <a:srgbClr val="0B2545"/>
                </a:solidFill>
                <a:latin typeface="Calibri"/>
              </a:rPr>
              <a:t>State the claim</a:t>
            </a:r>
            <a:r>
              <a:rPr sz="1600">
                <a:solidFill>
                  <a:srgbClr val="1F2933"/>
                </a:solidFill>
                <a:latin typeface="Calibri"/>
              </a:rPr>
              <a:t>  and tie it to a platform statement</a:t>
            </a:r>
          </a:p>
          <a:p>
            <a:pPr marL="274320" indent="-256032">
              <a:spcAft>
                <a:spcPts val="1000"/>
              </a:spcAft>
              <a:buChar char="•"/>
            </a:pPr>
            <a:r>
              <a:rPr b="1" sz="1600">
                <a:solidFill>
                  <a:srgbClr val="0B2545"/>
                </a:solidFill>
                <a:latin typeface="Calibri"/>
              </a:rPr>
              <a:t>Find the DID</a:t>
            </a:r>
            <a:r>
              <a:rPr sz="1600">
                <a:solidFill>
                  <a:srgbClr val="1F2933"/>
                </a:solidFill>
                <a:latin typeface="Calibri"/>
              </a:rPr>
              <a:t>  in readout-data-map.md; decode a real readout if missing</a:t>
            </a:r>
          </a:p>
          <a:p>
            <a:pPr marL="274320" indent="-256032">
              <a:spcAft>
                <a:spcPts val="1000"/>
              </a:spcAft>
              <a:buChar char="•"/>
            </a:pPr>
            <a:r>
              <a:rPr b="1" sz="1600">
                <a:solidFill>
                  <a:srgbClr val="0B2545"/>
                </a:solidFill>
                <a:latin typeface="Calibri"/>
              </a:rPr>
              <a:t>Write the rule</a:t>
            </a:r>
            <a:r>
              <a:rPr sz="1600">
                <a:solidFill>
                  <a:srgbClr val="1F2933"/>
                </a:solidFill>
                <a:latin typeface="Calibri"/>
              </a:rPr>
              <a:t>  rule_&lt;topic&gt;(context) in interpretation.py; return [] when data is absent</a:t>
            </a:r>
          </a:p>
          <a:p>
            <a:pPr marL="274320" indent="-256032">
              <a:spcAft>
                <a:spcPts val="1000"/>
              </a:spcAft>
              <a:buChar char="•"/>
            </a:pPr>
            <a:r>
              <a:rPr b="1" sz="1600">
                <a:solidFill>
                  <a:srgbClr val="0B2545"/>
                </a:solidFill>
                <a:latin typeface="Calibri"/>
              </a:rPr>
              <a:t>Pick a severity</a:t>
            </a:r>
            <a:r>
              <a:rPr sz="1600">
                <a:solidFill>
                  <a:srgbClr val="1F2933"/>
                </a:solidFill>
                <a:latin typeface="Calibri"/>
              </a:rPr>
              <a:t>  issue, warning, info or ok</a:t>
            </a:r>
          </a:p>
          <a:p>
            <a:pPr marL="274320" indent="-256032">
              <a:spcAft>
                <a:spcPts val="1000"/>
              </a:spcAft>
              <a:buChar char="•"/>
            </a:pPr>
            <a:r>
              <a:rPr b="1" sz="1600">
                <a:solidFill>
                  <a:srgbClr val="0B2545"/>
                </a:solidFill>
                <a:latin typeface="Calibri"/>
              </a:rPr>
              <a:t>Show the evidence</a:t>
            </a:r>
            <a:r>
              <a:rPr sz="1600">
                <a:solidFill>
                  <a:srgbClr val="1F2933"/>
                </a:solidFill>
                <a:latin typeface="Calibri"/>
              </a:rPr>
              <a:t>  evidence or table, plus sources</a:t>
            </a:r>
          </a:p>
          <a:p>
            <a:pPr marL="274320" indent="-256032">
              <a:spcAft>
                <a:spcPts val="1000"/>
              </a:spcAft>
              <a:buChar char="•"/>
            </a:pPr>
            <a:r>
              <a:rPr b="1" sz="1600">
                <a:solidFill>
                  <a:srgbClr val="0B2545"/>
                </a:solidFill>
                <a:latin typeface="Calibri"/>
              </a:rPr>
              <a:t>Validate</a:t>
            </a:r>
            <a:r>
              <a:rPr sz="1600">
                <a:solidFill>
                  <a:srgbClr val="1F2933"/>
                </a:solidFill>
                <a:latin typeface="Calibri"/>
              </a:rPr>
              <a:t>  on a real readout; add it to rule-catalog.md</a:t>
            </a:r>
          </a:p>
        </p:txBody>
      </p:sp>
      <p:sp>
        <p:nvSpPr>
          <p:cNvPr id="8" name="Rectangle 7"/>
          <p:cNvSpPr/>
          <p:nvPr/>
        </p:nvSpPr>
        <p:spPr>
          <a:xfrm>
            <a:off x="6217920" y="1371600"/>
            <a:ext cx="5577840" cy="47548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a:lstStyle/>
          <a:p>
            <a:pPr algn="l"/>
            <a:r>
              <a:rPr sz="1300">
                <a:solidFill>
                  <a:srgbClr val="E2E8F0"/>
                </a:solidFill>
                <a:latin typeface="Consolas"/>
              </a:rPr>
              <a:t>def rule_example(context):</a:t>
            </a:r>
          </a:p>
          <a:p>
            <a:pPr algn="l"/>
            <a:r>
              <a:rPr sz="1300">
                <a:solidFill>
                  <a:srgbClr val="E2E8F0"/>
                </a:solidFill>
                <a:latin typeface="Consolas"/>
              </a:rPr>
              <a:t>    values = context.values("HIA", "22FE14")</a:t>
            </a:r>
          </a:p>
          <a:p>
            <a:pPr algn="l"/>
            <a:r>
              <a:rPr sz="1300">
                <a:solidFill>
                  <a:srgbClr val="E2E8F0"/>
                </a:solidFill>
                <a:latin typeface="Consolas"/>
              </a:rPr>
              <a:t>    if not values:</a:t>
            </a:r>
          </a:p>
          <a:p>
            <a:pPr algn="l"/>
            <a:r>
              <a:rPr sz="1300">
                <a:solidFill>
                  <a:srgbClr val="E2E8F0"/>
                </a:solidFill>
                <a:latin typeface="Consolas"/>
              </a:rPr>
              <a:t>        return []</a:t>
            </a:r>
          </a:p>
          <a:p>
            <a:pPr algn="l"/>
            <a:r>
              <a:rPr sz="1300">
                <a:solidFill>
                  <a:srgbClr val="E2E8F0"/>
                </a:solidFill>
                <a:latin typeface="Consolas"/>
              </a:rPr>
              <a:t>    failures = to_int(values.get(</a:t>
            </a:r>
          </a:p>
          <a:p>
            <a:pPr algn="l"/>
            <a:r>
              <a:rPr sz="1300">
                <a:solidFill>
                  <a:srgbClr val="E2E8F0"/>
                </a:solidFill>
                <a:latin typeface="Consolas"/>
              </a:rPr>
              <a:t>        "HPA Standby Transition Failure Counter"))</a:t>
            </a:r>
          </a:p>
          <a:p>
            <a:pPr algn="l"/>
            <a:r>
              <a:rPr sz="1300">
                <a:solidFill>
                  <a:srgbClr val="E2E8F0"/>
                </a:solidFill>
                <a:latin typeface="Consolas"/>
              </a:rPr>
              <a:t>    if not failures:</a:t>
            </a:r>
          </a:p>
          <a:p>
            <a:pPr algn="l"/>
            <a:r>
              <a:rPr sz="1300">
                <a:solidFill>
                  <a:srgbClr val="E2E8F0"/>
                </a:solidFill>
                <a:latin typeface="Consolas"/>
              </a:rPr>
              <a:t>        return []</a:t>
            </a:r>
          </a:p>
          <a:p>
            <a:pPr algn="l"/>
            <a:r>
              <a:rPr sz="1300">
                <a:solidFill>
                  <a:srgbClr val="E2E8F0"/>
                </a:solidFill>
                <a:latin typeface="Consolas"/>
              </a:rPr>
              <a:t>    return [finding(</a:t>
            </a:r>
          </a:p>
          <a:p>
            <a:pPr algn="l"/>
            <a:r>
              <a:rPr sz="1300">
                <a:solidFill>
                  <a:srgbClr val="E2E8F0"/>
                </a:solidFill>
                <a:latin typeface="Consolas"/>
              </a:rPr>
              <a:t>        "HPA standby and resume", "issue",</a:t>
            </a:r>
          </a:p>
          <a:p>
            <a:pPr algn="l"/>
            <a:r>
              <a:rPr sz="1300">
                <a:solidFill>
                  <a:srgbClr val="E2E8F0"/>
                </a:solidFill>
                <a:latin typeface="Consolas"/>
              </a:rPr>
              <a:t>        f"HIA counted {failures} failed HPA "</a:t>
            </a:r>
          </a:p>
          <a:p>
            <a:pPr algn="l"/>
            <a:r>
              <a:rPr sz="1300">
                <a:solidFill>
                  <a:srgbClr val="E2E8F0"/>
                </a:solidFill>
                <a:latin typeface="Consolas"/>
              </a:rPr>
              <a:t>        "standby transition(s)",</a:t>
            </a:r>
          </a:p>
          <a:p>
            <a:pPr algn="l"/>
            <a:r>
              <a:rPr sz="1300">
                <a:solidFill>
                  <a:srgbClr val="E2E8F0"/>
                </a:solidFill>
                <a:latin typeface="Consolas"/>
              </a:rPr>
              <a:t>        sources=["HIA 22 FE 14"])]</a:t>
            </a:r>
          </a:p>
          <a:p>
            <a:pPr algn="l"/>
            <a:r>
              <a:rPr sz="1300">
                <a:solidFill>
                  <a:srgbClr val="E2E8F0"/>
                </a:solidFill>
                <a:latin typeface="Consolas"/>
              </a:rPr>
              <a:t> </a:t>
            </a:r>
          </a:p>
          <a:p>
            <a:pPr algn="l"/>
            <a:r>
              <a:rPr sz="1300">
                <a:solidFill>
                  <a:srgbClr val="E2E8F0"/>
                </a:solidFill>
                <a:latin typeface="Consolas"/>
              </a:rPr>
              <a:t>RULES.append(rule_example)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Add a feature 2: a new decoder, or a new section</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12</a:t>
            </a:r>
          </a:p>
        </p:txBody>
      </p:sp>
      <p:sp>
        <p:nvSpPr>
          <p:cNvPr id="7" name="Rectangle 6"/>
          <p:cNvSpPr/>
          <p:nvPr/>
        </p:nvSpPr>
        <p:spPr>
          <a:xfrm>
            <a:off x="457200" y="1371600"/>
            <a:ext cx="5486400" cy="484632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82296" cy="4846320"/>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44752"/>
            <a:ext cx="5212080" cy="470001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A new DID decoder</a:t>
            </a:r>
          </a:p>
          <a:p>
            <a:pPr algn="l">
              <a:spcAft>
                <a:spcPts val="900"/>
              </a:spcAft>
            </a:pPr>
            <a:r>
              <a:rPr sz="1500" b="0">
                <a:solidFill>
                  <a:srgbClr val="1F2933"/>
                </a:solidFill>
                <a:latin typeface="Calibri"/>
              </a:rPr>
              <a:t>•  Own module, no Streamlit: bytes in, rows out (reset_log.py)</a:t>
            </a:r>
          </a:p>
          <a:p>
            <a:pPr algn="l">
              <a:spcAft>
                <a:spcPts val="900"/>
              </a:spcAft>
            </a:pPr>
            <a:r>
              <a:rPr sz="1500" b="0">
                <a:solidFill>
                  <a:srgbClr val="1F2933"/>
                </a:solidFill>
                <a:latin typeface="Calibri"/>
              </a:rPr>
              <a:t>•  Take the layout from the source of truth and check it against real data</a:t>
            </a:r>
          </a:p>
          <a:p>
            <a:pPr algn="l">
              <a:spcAft>
                <a:spcPts val="900"/>
              </a:spcAft>
            </a:pPr>
            <a:r>
              <a:rPr sz="1500" b="0">
                <a:solidFill>
                  <a:srgbClr val="1F2933"/>
                </a:solidFill>
                <a:latin typeface="Calibri"/>
              </a:rPr>
              <a:t>•  Return it from a rule: finding(table=..., extra_tables=[(title, headers, rows)])</a:t>
            </a:r>
          </a:p>
          <a:p>
            <a:pPr algn="l">
              <a:spcAft>
                <a:spcPts val="900"/>
              </a:spcAft>
            </a:pPr>
            <a:r>
              <a:rPr sz="1500" b="0">
                <a:solidFill>
                  <a:srgbClr val="1F2933"/>
                </a:solidFill>
                <a:latin typeface="Calibri"/>
              </a:rPr>
              <a:t>•  Say in the finding text what is assumed</a:t>
            </a:r>
          </a:p>
          <a:p>
            <a:pPr algn="l">
              <a:spcAft>
                <a:spcPts val="900"/>
              </a:spcAft>
            </a:pPr>
            <a:r>
              <a:rPr sz="1500" b="0">
                <a:solidFill>
                  <a:srgbClr val="1F2933"/>
                </a:solidFill>
                <a:latin typeface="Calibri"/>
              </a:rPr>
              <a:t>•  Add the DID and layout to readout-data-map.md</a:t>
            </a:r>
          </a:p>
        </p:txBody>
      </p:sp>
      <p:sp>
        <p:nvSpPr>
          <p:cNvPr id="10" name="Rectangle 9"/>
          <p:cNvSpPr/>
          <p:nvPr/>
        </p:nvSpPr>
        <p:spPr>
          <a:xfrm>
            <a:off x="6263640" y="1371600"/>
            <a:ext cx="5486400" cy="484632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82296" cy="4846320"/>
          </a:xfrm>
          <a:prstGeom prst="rect">
            <a:avLst/>
          </a:prstGeom>
          <a:solidFill>
            <a:srgbClr val="2F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44752"/>
            <a:ext cx="5212080" cy="470001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A new section or tab</a:t>
            </a:r>
          </a:p>
          <a:p>
            <a:pPr algn="l">
              <a:spcAft>
                <a:spcPts val="900"/>
              </a:spcAft>
            </a:pPr>
            <a:r>
              <a:rPr sz="1500" b="0">
                <a:solidFill>
                  <a:srgbClr val="1F2933"/>
                </a:solidFill>
                <a:latin typeface="Calibri"/>
              </a:rPr>
              <a:t>•  Write render_&lt;name&gt;(result) in decoder.py and add it to st.tabs(...)</a:t>
            </a:r>
          </a:p>
          <a:p>
            <a:pPr algn="l">
              <a:spcAft>
                <a:spcPts val="900"/>
              </a:spcAft>
            </a:pPr>
            <a:r>
              <a:rPr sz="1500" b="0">
                <a:solidFill>
                  <a:srgbClr val="1F2933"/>
                </a:solidFill>
                <a:latin typeface="Calibri"/>
              </a:rPr>
              <a:t>•  Keep results in the result dict; run slow calls in worker threads (baselines.py)</a:t>
            </a:r>
          </a:p>
          <a:p>
            <a:pPr algn="l">
              <a:spcAft>
                <a:spcPts val="900"/>
              </a:spcAft>
            </a:pPr>
            <a:r>
              <a:rPr sz="1500" b="0">
                <a:solidFill>
                  <a:srgbClr val="1F2933"/>
                </a:solidFill>
                <a:latin typeface="Calibri"/>
              </a:rPr>
              <a:t>•  Use render_wrapped_table; a cell can be a list of (text, url) links</a:t>
            </a:r>
          </a:p>
          <a:p>
            <a:pPr algn="l">
              <a:spcAft>
                <a:spcPts val="900"/>
              </a:spcAft>
            </a:pPr>
            <a:r>
              <a:rPr sz="1500" b="0">
                <a:solidFill>
                  <a:srgbClr val="1F2933"/>
                </a:solidFill>
                <a:latin typeface="Calibri"/>
              </a:rPr>
              <a:t>•  Expanders and sections start collapsed</a:t>
            </a:r>
          </a:p>
          <a:p>
            <a:pPr algn="l">
              <a:spcAft>
                <a:spcPts val="900"/>
              </a:spcAft>
            </a:pPr>
            <a:r>
              <a:rPr sz="1500" b="0">
                <a:solidFill>
                  <a:srgbClr val="1F2933"/>
                </a:solidFill>
                <a:latin typeface="Calibri"/>
              </a:rPr>
              <a:t>•  Cache outside calls, as baselines.py does for an hour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Ground rules for changes</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13</a:t>
            </a:r>
          </a:p>
        </p:txBody>
      </p:sp>
      <p:sp>
        <p:nvSpPr>
          <p:cNvPr id="7" name="TextBox 6"/>
          <p:cNvSpPr txBox="1"/>
          <p:nvPr/>
        </p:nvSpPr>
        <p:spPr>
          <a:xfrm>
            <a:off x="548640" y="1463040"/>
            <a:ext cx="11064240" cy="4846320"/>
          </a:xfrm>
          <a:prstGeom prst="rect">
            <a:avLst/>
          </a:prstGeom>
          <a:noFill/>
        </p:spPr>
        <p:txBody>
          <a:bodyPr wrap="square" lIns="45720" rIns="45720">
            <a:spAutoFit/>
          </a:bodyPr>
          <a:lstStyle/>
          <a:p>
            <a:pPr marL="274320" indent="-256032">
              <a:spcAft>
                <a:spcPts val="1100"/>
              </a:spcAft>
              <a:buChar char="•"/>
            </a:pPr>
            <a:r>
              <a:rPr b="1" sz="1900">
                <a:solidFill>
                  <a:srgbClr val="0B2545"/>
                </a:solidFill>
                <a:latin typeface="Calibri"/>
              </a:rPr>
              <a:t>Do not invent data</a:t>
            </a:r>
            <a:r>
              <a:rPr sz="1900">
                <a:solidFill>
                  <a:srgbClr val="1F2933"/>
                </a:solidFill>
                <a:latin typeface="Calibri"/>
              </a:rPr>
              <a:t>  show what the readout says; mark every assumption in the output</a:t>
            </a:r>
          </a:p>
          <a:p>
            <a:pPr marL="274320" indent="-256032">
              <a:spcAft>
                <a:spcPts val="1100"/>
              </a:spcAft>
              <a:buChar char="•"/>
            </a:pPr>
            <a:r>
              <a:rPr b="1" sz="1900">
                <a:solidFill>
                  <a:srgbClr val="0B2545"/>
                </a:solidFill>
                <a:latin typeface="Calibri"/>
              </a:rPr>
              <a:t>Validate on a real readout</a:t>
            </a:r>
            <a:r>
              <a:rPr sz="1900">
                <a:solidFill>
                  <a:srgbClr val="1F2933"/>
                </a:solidFill>
                <a:latin typeface="Calibri"/>
              </a:rPr>
              <a:t>  a synthetic example is not enough</a:t>
            </a:r>
          </a:p>
          <a:p>
            <a:pPr marL="274320" indent="-256032">
              <a:spcAft>
                <a:spcPts val="1100"/>
              </a:spcAft>
              <a:buChar char="•"/>
            </a:pPr>
            <a:r>
              <a:rPr b="1" sz="1900">
                <a:solidFill>
                  <a:srgbClr val="0B2545"/>
                </a:solidFill>
                <a:latin typeface="Calibri"/>
              </a:rPr>
              <a:t>Hedge conclusions</a:t>
            </a:r>
            <a:r>
              <a:rPr sz="1900">
                <a:solidFill>
                  <a:srgbClr val="1F2933"/>
                </a:solidFill>
                <a:latin typeface="Calibri"/>
              </a:rPr>
              <a:t>  "indicates", "consistent with"; show the evidence and source readouts</a:t>
            </a:r>
          </a:p>
          <a:p>
            <a:pPr marL="274320" indent="-256032">
              <a:spcAft>
                <a:spcPts val="1100"/>
              </a:spcAft>
              <a:buChar char="•"/>
            </a:pPr>
            <a:r>
              <a:rPr b="1" sz="1900">
                <a:solidFill>
                  <a:srgbClr val="0B2545"/>
                </a:solidFill>
                <a:latin typeface="Calibri"/>
              </a:rPr>
              <a:t>Never break the page for missing data</a:t>
            </a:r>
            <a:r>
              <a:rPr sz="1900">
                <a:solidFill>
                  <a:srgbClr val="1F2933"/>
                </a:solidFill>
                <a:latin typeface="Calibri"/>
              </a:rPr>
              <a:t>  a rule without its data returns nothing</a:t>
            </a:r>
          </a:p>
          <a:p>
            <a:pPr marL="274320" indent="-256032">
              <a:spcAft>
                <a:spcPts val="1100"/>
              </a:spcAft>
              <a:buChar char="•"/>
            </a:pPr>
            <a:r>
              <a:rPr b="1" sz="1900">
                <a:solidFill>
                  <a:srgbClr val="0B2545"/>
                </a:solidFill>
                <a:latin typeface="Calibri"/>
              </a:rPr>
              <a:t>Keep it fast</a:t>
            </a:r>
            <a:r>
              <a:rPr sz="1900">
                <a:solidFill>
                  <a:srgbClr val="1F2933"/>
                </a:solidFill>
                <a:latin typeface="Calibri"/>
              </a:rPr>
              <a:t>  cache heavy work, use threads for network calls</a:t>
            </a:r>
          </a:p>
          <a:p>
            <a:pPr marL="274320" indent="-256032">
              <a:spcAft>
                <a:spcPts val="1100"/>
              </a:spcAft>
              <a:buChar char="•"/>
            </a:pPr>
            <a:r>
              <a:rPr b="1" sz="1900">
                <a:solidFill>
                  <a:srgbClr val="0B2545"/>
                </a:solidFill>
                <a:latin typeface="Calibri"/>
              </a:rPr>
              <a:t>Update the docs in the same change</a:t>
            </a:r>
            <a:r>
              <a:rPr sz="1900">
                <a:solidFill>
                  <a:srgbClr val="1F2933"/>
                </a:solidFill>
                <a:latin typeface="Calibri"/>
              </a:rPr>
              <a:t>  rule catalog, data map, README</a:t>
            </a:r>
          </a:p>
          <a:p>
            <a:pPr marL="274320" indent="-256032">
              <a:spcAft>
                <a:spcPts val="1100"/>
              </a:spcAft>
              <a:buChar char="•"/>
            </a:pPr>
            <a:r>
              <a:rPr b="1" sz="1900">
                <a:solidFill>
                  <a:srgbClr val="0B2545"/>
                </a:solidFill>
                <a:latin typeface="Calibri"/>
              </a:rPr>
              <a:t>Never print or store secrets</a:t>
            </a:r>
            <a:r>
              <a:rPr sz="1900">
                <a:solidFill>
                  <a:srgbClr val="1F2933"/>
                </a:solidFill>
                <a:latin typeface="Calibri"/>
              </a:rPr>
              <a:t>  logins go to the OS keychain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Use the skill when you extend it</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14</a:t>
            </a:r>
          </a:p>
        </p:txBody>
      </p:sp>
      <p:sp>
        <p:nvSpPr>
          <p:cNvPr id="7" name="TextBox 6"/>
          <p:cNvSpPr txBox="1"/>
          <p:nvPr/>
        </p:nvSpPr>
        <p:spPr>
          <a:xfrm>
            <a:off x="548640" y="1463040"/>
            <a:ext cx="11064240" cy="3291840"/>
          </a:xfrm>
          <a:prstGeom prst="rect">
            <a:avLst/>
          </a:prstGeom>
          <a:noFill/>
        </p:spPr>
        <p:txBody>
          <a:bodyPr wrap="square" lIns="45720" rIns="45720">
            <a:spAutoFit/>
          </a:bodyPr>
          <a:lstStyle/>
          <a:p>
            <a:pPr marL="274320" indent="-256032">
              <a:spcAft>
                <a:spcPts val="1400"/>
              </a:spcAft>
              <a:buChar char="•"/>
            </a:pPr>
            <a:r>
              <a:rPr b="1" sz="1800">
                <a:solidFill>
                  <a:srgbClr val="0B2545"/>
                </a:solidFill>
                <a:latin typeface="Calibri"/>
              </a:rPr>
              <a:t>.github/skills/decoder-summary-interpretation/</a:t>
            </a:r>
            <a:r>
              <a:rPr sz="1800">
                <a:solidFill>
                  <a:srgbClr val="1F2933"/>
                </a:solidFill>
                <a:latin typeface="Calibri"/>
              </a:rPr>
              <a:t>  the folder</a:t>
            </a:r>
          </a:p>
          <a:p>
            <a:pPr marL="274320" indent="-256032">
              <a:spcAft>
                <a:spcPts val="1400"/>
              </a:spcAft>
              <a:buChar char="•"/>
            </a:pPr>
            <a:r>
              <a:rPr b="1" sz="1800">
                <a:solidFill>
                  <a:srgbClr val="0B2545"/>
                </a:solidFill>
                <a:latin typeface="Calibri"/>
              </a:rPr>
              <a:t>SKILL.md</a:t>
            </a:r>
            <a:r>
              <a:rPr sz="1800">
                <a:solidFill>
                  <a:srgbClr val="1F2933"/>
                </a:solidFill>
                <a:latin typeface="Calibri"/>
              </a:rPr>
              <a:t>  platform statements, how to add or change a rule, severity meanings</a:t>
            </a:r>
          </a:p>
          <a:p>
            <a:pPr marL="274320" indent="-256032">
              <a:spcAft>
                <a:spcPts val="1400"/>
              </a:spcAft>
              <a:buChar char="•"/>
            </a:pPr>
            <a:r>
              <a:rPr b="1" sz="1800">
                <a:solidFill>
                  <a:srgbClr val="0B2545"/>
                </a:solidFill>
                <a:latin typeface="Calibri"/>
              </a:rPr>
              <a:t>references/knowledge-model.md</a:t>
            </a:r>
            <a:r>
              <a:rPr sz="1800">
                <a:solidFill>
                  <a:srgbClr val="1F2933"/>
                </a:solidFill>
                <a:latin typeface="Calibri"/>
              </a:rPr>
              <a:t>  the model in detail and the open questions</a:t>
            </a:r>
          </a:p>
          <a:p>
            <a:pPr marL="274320" indent="-256032">
              <a:spcAft>
                <a:spcPts val="1400"/>
              </a:spcAft>
              <a:buChar char="•"/>
            </a:pPr>
            <a:r>
              <a:rPr b="1" sz="1800">
                <a:solidFill>
                  <a:srgbClr val="0B2545"/>
                </a:solidFill>
                <a:latin typeface="Calibri"/>
              </a:rPr>
              <a:t>references/readout-data-map.md</a:t>
            </a:r>
            <a:r>
              <a:rPr sz="1800">
                <a:solidFill>
                  <a:srgbClr val="1F2933"/>
                </a:solidFill>
                <a:latin typeface="Calibri"/>
              </a:rPr>
              <a:t>  DIDs by ECU, fields, reset log layout, ConfigHub calls</a:t>
            </a:r>
          </a:p>
          <a:p>
            <a:pPr marL="274320" indent="-256032">
              <a:spcAft>
                <a:spcPts val="1400"/>
              </a:spcAft>
              <a:buChar char="•"/>
            </a:pPr>
            <a:r>
              <a:rPr b="1" sz="1800">
                <a:solidFill>
                  <a:srgbClr val="0B2545"/>
                </a:solidFill>
                <a:latin typeface="Calibri"/>
              </a:rPr>
              <a:t>references/rule-catalog.md</a:t>
            </a:r>
            <a:r>
              <a:rPr sz="1800">
                <a:solidFill>
                  <a:srgbClr val="1F2933"/>
                </a:solidFill>
                <a:latin typeface="Calibri"/>
              </a:rPr>
              <a:t>  every rule, its inputs and severities, and the finding shape</a:t>
            </a:r>
          </a:p>
        </p:txBody>
      </p:sp>
      <p:sp>
        <p:nvSpPr>
          <p:cNvPr id="8" name="TextBox 7"/>
          <p:cNvSpPr txBox="1"/>
          <p:nvPr/>
        </p:nvSpPr>
        <p:spPr>
          <a:xfrm>
            <a:off x="548640" y="5029200"/>
            <a:ext cx="11064240" cy="320040"/>
          </a:xfrm>
          <a:prstGeom prst="rect">
            <a:avLst/>
          </a:prstGeom>
          <a:noFill/>
        </p:spPr>
        <p:txBody>
          <a:bodyPr wrap="square" anchor="t" lIns="0" rIns="0" tIns="54864" bIns="54864">
            <a:spAutoFit/>
          </a:bodyPr>
          <a:lstStyle/>
          <a:p>
            <a:pPr algn="l"/>
            <a:r>
              <a:rPr sz="1600" b="0">
                <a:solidFill>
                  <a:srgbClr val="1F2933"/>
                </a:solidFill>
                <a:latin typeface="Calibri"/>
              </a:rPr>
              <a:t>Ask Copilot, for example: "add a rule that flags HIB resets by ERROR_HOOK". The skill gives it the platform model and the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Known limits and ideas</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15</a:t>
            </a:r>
          </a:p>
        </p:txBody>
      </p:sp>
      <p:sp>
        <p:nvSpPr>
          <p:cNvPr id="7" name="Rectangle 6"/>
          <p:cNvSpPr/>
          <p:nvPr/>
        </p:nvSpPr>
        <p:spPr>
          <a:xfrm>
            <a:off x="457200" y="1371600"/>
            <a:ext cx="5486400" cy="484632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82296" cy="4846320"/>
          </a:xfrm>
          <a:prstGeom prst="rect">
            <a:avLst/>
          </a:prstGeom>
          <a:solidFill>
            <a:srgbClr val="E89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44752"/>
            <a:ext cx="5212080" cy="470001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Known limits</a:t>
            </a:r>
          </a:p>
          <a:p>
            <a:pPr algn="l">
              <a:spcAft>
                <a:spcPts val="900"/>
              </a:spcAft>
            </a:pPr>
            <a:r>
              <a:rPr sz="1500" b="0">
                <a:solidFill>
                  <a:srgbClr val="1F2933"/>
                </a:solidFill>
                <a:latin typeface="Calibri"/>
              </a:rPr>
              <a:t>•  Baselines: ConfigHub returns its best three matches, so only the newest versions show</a:t>
            </a:r>
          </a:p>
          <a:p>
            <a:pPr algn="l">
              <a:spcAft>
                <a:spcPts val="900"/>
              </a:spcAft>
            </a:pPr>
            <a:r>
              <a:rPr sz="1500" b="0">
                <a:solidFill>
                  <a:srgbClr val="1F2933"/>
                </a:solidFill>
                <a:latin typeface="Calibri"/>
              </a:rPr>
              <a:t>•  A part number tells which baselines contain it, not which one was installed</a:t>
            </a:r>
          </a:p>
          <a:p>
            <a:pPr algn="l">
              <a:spcAft>
                <a:spcPts val="900"/>
              </a:spcAft>
            </a:pPr>
            <a:r>
              <a:rPr sz="1500" b="0">
                <a:solidFill>
                  <a:srgbClr val="1F2933"/>
                </a:solidFill>
                <a:latin typeface="Calibri"/>
              </a:rPr>
              <a:t>•  Reset log: structure version 0002 differs from the 0001.0002 the Excel sheet was written for; the application context decoding is unverified</a:t>
            </a:r>
          </a:p>
          <a:p>
            <a:pPr algn="l">
              <a:spcAft>
                <a:spcPts val="900"/>
              </a:spcAft>
            </a:pPr>
            <a:r>
              <a:rPr sz="1500" b="0">
                <a:solidFill>
                  <a:srgbClr val="1F2933"/>
                </a:solidFill>
                <a:latin typeface="Calibri"/>
              </a:rPr>
              <a:t>•  The application context decoding is chosen from the reset reason (an assumption)</a:t>
            </a:r>
          </a:p>
          <a:p>
            <a:pPr algn="l">
              <a:spcAft>
                <a:spcPts val="900"/>
              </a:spcAft>
            </a:pPr>
            <a:r>
              <a:rPr sz="1500" b="0">
                <a:solidFill>
                  <a:srgbClr val="1F2933"/>
                </a:solidFill>
                <a:latin typeface="Calibri"/>
              </a:rPr>
              <a:t>•  Part file downloads need an Artifactory login in the browser</a:t>
            </a:r>
          </a:p>
        </p:txBody>
      </p:sp>
      <p:sp>
        <p:nvSpPr>
          <p:cNvPr id="10" name="Rectangle 9"/>
          <p:cNvSpPr/>
          <p:nvPr/>
        </p:nvSpPr>
        <p:spPr>
          <a:xfrm>
            <a:off x="6263640" y="1371600"/>
            <a:ext cx="5486400" cy="4846320"/>
          </a:xfrm>
          <a:prstGeom prst="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82296" cy="4846320"/>
          </a:xfrm>
          <a:prstGeom prst="rect">
            <a:avLst/>
          </a:prstGeom>
          <a:solidFill>
            <a:srgbClr val="2F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44752"/>
            <a:ext cx="5212080" cy="4700016"/>
          </a:xfrm>
          <a:prstGeom prst="rect">
            <a:avLst/>
          </a:prstGeom>
          <a:noFill/>
        </p:spPr>
        <p:txBody>
          <a:bodyPr wrap="square" anchor="t" lIns="18288" rIns="18288" tIns="54864" bIns="54864">
            <a:spAutoFit/>
          </a:bodyPr>
          <a:lstStyle/>
          <a:p>
            <a:pPr algn="l">
              <a:spcAft>
                <a:spcPts val="1200"/>
              </a:spcAft>
            </a:pPr>
            <a:r>
              <a:rPr sz="2000" b="1">
                <a:solidFill>
                  <a:srgbClr val="0B2545"/>
                </a:solidFill>
                <a:latin typeface="Calibri"/>
              </a:rPr>
              <a:t>Ideas</a:t>
            </a:r>
          </a:p>
          <a:p>
            <a:pPr algn="l">
              <a:spcAft>
                <a:spcPts val="900"/>
              </a:spcAft>
            </a:pPr>
            <a:r>
              <a:rPr sz="1500" b="0">
                <a:solidFill>
                  <a:srgbClr val="1F2933"/>
                </a:solidFill>
                <a:latin typeface="Calibri"/>
              </a:rPr>
              <a:t>•  Compare readouts of different VINs</a:t>
            </a:r>
          </a:p>
          <a:p>
            <a:pPr algn="l">
              <a:spcAft>
                <a:spcPts val="900"/>
              </a:spcAft>
            </a:pPr>
            <a:r>
              <a:rPr sz="1500" b="0">
                <a:solidFill>
                  <a:srgbClr val="1F2933"/>
                </a:solidFill>
                <a:latin typeface="Calibri"/>
              </a:rPr>
              <a:t>•  More rules, starting with the open questions in knowledge-model.md</a:t>
            </a:r>
          </a:p>
          <a:p>
            <a:pPr algn="l">
              <a:spcAft>
                <a:spcPts val="900"/>
              </a:spcAft>
            </a:pPr>
            <a:r>
              <a:rPr sz="1500" b="0">
                <a:solidFill>
                  <a:srgbClr val="1F2933"/>
                </a:solidFill>
                <a:latin typeface="Calibri"/>
              </a:rPr>
              <a:t>•  Reset log from UART text, as the Excel sheet allows</a:t>
            </a:r>
          </a:p>
          <a:p>
            <a:pPr algn="l">
              <a:spcAft>
                <a:spcPts val="900"/>
              </a:spcAft>
            </a:pPr>
            <a:r>
              <a:rPr sz="1500" b="0">
                <a:solidFill>
                  <a:srgbClr val="1F2933"/>
                </a:solidFill>
                <a:latin typeface="Calibri"/>
              </a:rPr>
              <a:t>•  Rules for SGA and the VES nodes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31520"/>
          </a:xfrm>
          <a:prstGeom prst="rect">
            <a:avLst/>
          </a:prstGeom>
          <a:noFill/>
        </p:spPr>
        <p:txBody>
          <a:bodyPr wrap="square" anchor="ctr" lIns="0" rIns="0" tIns="54864" bIns="54864">
            <a:spAutoFit/>
          </a:bodyPr>
          <a:lstStyle/>
          <a:p>
            <a:pPr algn="l"/>
            <a:r>
              <a:rPr sz="3000" b="1">
                <a:solidFill>
                  <a:srgbClr val="FFFFFF"/>
                </a:solidFill>
                <a:latin typeface="Calibri"/>
              </a:rPr>
              <a:t>Where to find it</a:t>
            </a:r>
          </a:p>
        </p:txBody>
      </p:sp>
      <p:sp>
        <p:nvSpPr>
          <p:cNvPr id="5" name="TextBox 4"/>
          <p:cNvSpPr txBox="1"/>
          <p:nvPr/>
        </p:nvSpPr>
        <p:spPr>
          <a:xfrm>
            <a:off x="457200" y="6473952"/>
            <a:ext cx="8229600" cy="274320"/>
          </a:xfrm>
          <a:prstGeom prst="rect">
            <a:avLst/>
          </a:prstGeom>
          <a:noFill/>
        </p:spPr>
        <p:txBody>
          <a:bodyPr wrap="square" anchor="t" lIns="0" rIns="0" tIns="54864" bIns="54864">
            <a:spAutoFit/>
          </a:bodyPr>
          <a:lstStyle/>
          <a:p>
            <a:pPr algn="l"/>
            <a:r>
              <a:rPr sz="1100" b="0">
                <a:solidFill>
                  <a:srgbClr val="6B7785"/>
                </a:solidFill>
                <a:latin typeface="Calibri"/>
              </a:rPr>
              <a:t>Vehicle readout analysis  ·  FaultTracing-Scripts</a:t>
            </a:r>
          </a:p>
        </p:txBody>
      </p:sp>
      <p:sp>
        <p:nvSpPr>
          <p:cNvPr id="6" name="TextBox 5"/>
          <p:cNvSpPr txBox="1"/>
          <p:nvPr/>
        </p:nvSpPr>
        <p:spPr>
          <a:xfrm>
            <a:off x="10789920" y="6473952"/>
            <a:ext cx="914400" cy="274320"/>
          </a:xfrm>
          <a:prstGeom prst="rect">
            <a:avLst/>
          </a:prstGeom>
          <a:noFill/>
        </p:spPr>
        <p:txBody>
          <a:bodyPr wrap="square" anchor="t" lIns="0" rIns="0" tIns="54864" bIns="54864">
            <a:spAutoFit/>
          </a:bodyPr>
          <a:lstStyle/>
          <a:p>
            <a:pPr algn="r"/>
            <a:r>
              <a:rPr sz="1100" b="0">
                <a:solidFill>
                  <a:srgbClr val="6B7785"/>
                </a:solidFill>
                <a:latin typeface="Calibri"/>
              </a:rPr>
              <a:t>16</a:t>
            </a:r>
          </a:p>
        </p:txBody>
      </p:sp>
      <p:sp>
        <p:nvSpPr>
          <p:cNvPr id="7" name="TextBox 6"/>
          <p:cNvSpPr txBox="1"/>
          <p:nvPr/>
        </p:nvSpPr>
        <p:spPr>
          <a:xfrm>
            <a:off x="548640" y="1554480"/>
            <a:ext cx="11064240" cy="3840480"/>
          </a:xfrm>
          <a:prstGeom prst="rect">
            <a:avLst/>
          </a:prstGeom>
          <a:noFill/>
        </p:spPr>
        <p:txBody>
          <a:bodyPr wrap="square" lIns="45720" rIns="45720">
            <a:spAutoFit/>
          </a:bodyPr>
          <a:lstStyle/>
          <a:p>
            <a:pPr marL="274320" indent="-256032">
              <a:spcAft>
                <a:spcPts val="1600"/>
              </a:spcAft>
              <a:buChar char="•"/>
            </a:pPr>
            <a:r>
              <a:rPr b="1" sz="2000">
                <a:solidFill>
                  <a:srgbClr val="0B2545"/>
                </a:solidFill>
                <a:latin typeface="Calibri"/>
              </a:rPr>
              <a:t>Repository</a:t>
            </a:r>
            <a:r>
              <a:rPr sz="2000">
                <a:solidFill>
                  <a:srgbClr val="1F2933"/>
                </a:solidFill>
                <a:latin typeface="Calibri"/>
              </a:rPr>
              <a:t>  github.com/vkumar-vcc/FaultTracing-Scripts</a:t>
            </a:r>
          </a:p>
          <a:p>
            <a:pPr marL="274320" indent="-256032">
              <a:spcAft>
                <a:spcPts val="1600"/>
              </a:spcAft>
              <a:buChar char="•"/>
            </a:pPr>
            <a:r>
              <a:rPr b="1" sz="2000">
                <a:solidFill>
                  <a:srgbClr val="0B2545"/>
                </a:solidFill>
                <a:latin typeface="Calibri"/>
              </a:rPr>
              <a:t>App</a:t>
            </a:r>
            <a:r>
              <a:rPr sz="2000">
                <a:solidFill>
                  <a:srgbClr val="1F2933"/>
                </a:solidFill>
                <a:latin typeface="Calibri"/>
              </a:rPr>
              <a:t>  decoder/decoder.py, started with uv run streamlit run decoder\decoder.py</a:t>
            </a:r>
          </a:p>
          <a:p>
            <a:pPr marL="274320" indent="-256032">
              <a:spcAft>
                <a:spcPts val="1600"/>
              </a:spcAft>
              <a:buChar char="•"/>
            </a:pPr>
            <a:r>
              <a:rPr b="1" sz="2000">
                <a:solidFill>
                  <a:srgbClr val="0B2545"/>
                </a:solidFill>
                <a:latin typeface="Calibri"/>
              </a:rPr>
              <a:t>Docs</a:t>
            </a:r>
            <a:r>
              <a:rPr sz="2000">
                <a:solidFill>
                  <a:srgbClr val="1F2933"/>
                </a:solidFill>
                <a:latin typeface="Calibri"/>
              </a:rPr>
              <a:t>  README.md, section "Combined Streamlit app"</a:t>
            </a:r>
          </a:p>
          <a:p>
            <a:pPr marL="274320" indent="-256032">
              <a:spcAft>
                <a:spcPts val="1600"/>
              </a:spcAft>
              <a:buChar char="•"/>
            </a:pPr>
            <a:r>
              <a:rPr b="1" sz="2000">
                <a:solidFill>
                  <a:srgbClr val="0B2545"/>
                </a:solidFill>
                <a:latin typeface="Calibri"/>
              </a:rPr>
              <a:t>Skill</a:t>
            </a:r>
            <a:r>
              <a:rPr sz="2000">
                <a:solidFill>
                  <a:srgbClr val="1F2933"/>
                </a:solidFill>
                <a:latin typeface="Calibri"/>
              </a:rPr>
              <a:t>  .github/skills/decoder-summary-interpretation/</a:t>
            </a:r>
          </a:p>
          <a:p>
            <a:pPr marL="274320" indent="-256032">
              <a:spcAft>
                <a:spcPts val="1600"/>
              </a:spcAft>
              <a:buChar char="•"/>
            </a:pPr>
            <a:r>
              <a:rPr b="1" sz="2000">
                <a:solidFill>
                  <a:srgbClr val="0B2545"/>
                </a:solidFill>
                <a:latin typeface="Calibri"/>
              </a:rPr>
              <a:t>Tests</a:t>
            </a:r>
            <a:r>
              <a:rPr sz="2000">
                <a:solidFill>
                  <a:srgbClr val="1F2933"/>
                </a:solidFill>
                <a:latin typeface="Calibri"/>
              </a:rPr>
              <a:t>  decoder/test_decoder.py</a:t>
            </a:r>
          </a:p>
        </p:txBody>
      </p:sp>
      <p:sp>
        <p:nvSpPr>
          <p:cNvPr id="8" name="TextBox 7"/>
          <p:cNvSpPr txBox="1"/>
          <p:nvPr/>
        </p:nvSpPr>
        <p:spPr>
          <a:xfrm>
            <a:off x="548640" y="5669280"/>
            <a:ext cx="11064240" cy="320040"/>
          </a:xfrm>
          <a:prstGeom prst="rect">
            <a:avLst/>
          </a:prstGeom>
          <a:noFill/>
        </p:spPr>
        <p:txBody>
          <a:bodyPr wrap="square" anchor="t" lIns="0" rIns="0" tIns="54864" bIns="54864">
            <a:spAutoFit/>
          </a:bodyPr>
          <a:lstStyle/>
          <a:p>
            <a:pPr algn="l"/>
            <a:r>
              <a:rPr sz="1800" b="1">
                <a:solidFill>
                  <a:srgbClr val="0B2545"/>
                </a:solidFill>
                <a:latin typeface="Calibri"/>
              </a:rPr>
              <a:t>Questions, or a rule you want added? Open an issue or send a pull request.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